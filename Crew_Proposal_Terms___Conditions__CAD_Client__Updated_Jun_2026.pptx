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12524" r:id="rId5"/>
    <p:sldId id="325" r:id="rId6"/>
    <p:sldId id="13494" r:id="rId7"/>
    <p:sldId id="13495" r:id="rId8"/>
    <p:sldId id="12519" r:id="rId9"/>
    <p:sldId id="13492" r:id="rId10"/>
    <p:sldId id="13168" r:id="rId11"/>
    <p:sldId id="13489" r:id="rId12"/>
    <p:sldId id="13490" r:id="rId13"/>
    <p:sldId id="134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4D9B"/>
    <a:srgbClr val="FFEA00"/>
    <a:srgbClr val="F9A66B"/>
    <a:srgbClr val="8A69D4"/>
    <a:srgbClr val="FFAA4D"/>
    <a:srgbClr val="000005"/>
    <a:srgbClr val="A7A8AA"/>
    <a:srgbClr val="FFE900"/>
    <a:srgbClr val="7C71B4"/>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na Unger" userId="6444063f-9e43-49d3-b89a-21df28ac00ac" providerId="ADAL" clId="{ABD0CDA0-42D6-4DFF-A12A-5C0CA9709F67}"/>
    <pc:docChg chg="modSld">
      <pc:chgData name="Sujina Unger" userId="6444063f-9e43-49d3-b89a-21df28ac00ac" providerId="ADAL" clId="{ABD0CDA0-42D6-4DFF-A12A-5C0CA9709F67}" dt="2026-06-17T15:46:58.944" v="17" actId="20577"/>
      <pc:docMkLst>
        <pc:docMk/>
      </pc:docMkLst>
      <pc:sldChg chg="modSp mod">
        <pc:chgData name="Sujina Unger" userId="6444063f-9e43-49d3-b89a-21df28ac00ac" providerId="ADAL" clId="{ABD0CDA0-42D6-4DFF-A12A-5C0CA9709F67}" dt="2026-06-17T15:46:23.702" v="8" actId="20577"/>
        <pc:sldMkLst>
          <pc:docMk/>
          <pc:sldMk cId="3834350574" sldId="12524"/>
        </pc:sldMkLst>
        <pc:spChg chg="mod">
          <ac:chgData name="Sujina Unger" userId="6444063f-9e43-49d3-b89a-21df28ac00ac" providerId="ADAL" clId="{ABD0CDA0-42D6-4DFF-A12A-5C0CA9709F67}" dt="2026-06-17T15:46:23.702" v="8" actId="20577"/>
          <ac:spMkLst>
            <pc:docMk/>
            <pc:sldMk cId="3834350574" sldId="12524"/>
            <ac:spMk id="11" creationId="{E9B011A1-B1AF-BB40-83BB-84BB28DC1E88}"/>
          </ac:spMkLst>
        </pc:spChg>
      </pc:sldChg>
      <pc:sldChg chg="modSp mod">
        <pc:chgData name="Sujina Unger" userId="6444063f-9e43-49d3-b89a-21df28ac00ac" providerId="ADAL" clId="{ABD0CDA0-42D6-4DFF-A12A-5C0CA9709F67}" dt="2026-06-17T15:46:58.944" v="17" actId="20577"/>
        <pc:sldMkLst>
          <pc:docMk/>
          <pc:sldMk cId="2250522924" sldId="13491"/>
        </pc:sldMkLst>
        <pc:spChg chg="mod">
          <ac:chgData name="Sujina Unger" userId="6444063f-9e43-49d3-b89a-21df28ac00ac" providerId="ADAL" clId="{ABD0CDA0-42D6-4DFF-A12A-5C0CA9709F67}" dt="2026-06-17T15:46:55.035" v="15" actId="20577"/>
          <ac:spMkLst>
            <pc:docMk/>
            <pc:sldMk cId="2250522924" sldId="13491"/>
            <ac:spMk id="4" creationId="{0092915F-E5BD-3045-B789-A408F8310FE5}"/>
          </ac:spMkLst>
        </pc:spChg>
        <pc:spChg chg="mod">
          <ac:chgData name="Sujina Unger" userId="6444063f-9e43-49d3-b89a-21df28ac00ac" providerId="ADAL" clId="{ABD0CDA0-42D6-4DFF-A12A-5C0CA9709F67}" dt="2026-06-17T15:46:58.944" v="17" actId="20577"/>
          <ac:spMkLst>
            <pc:docMk/>
            <pc:sldMk cId="2250522924" sldId="13491"/>
            <ac:spMk id="6" creationId="{337E9886-8275-7044-A7E3-97EDFCD28398}"/>
          </ac:spMkLst>
        </pc:spChg>
      </pc:sldChg>
      <pc:sldChg chg="modSp mod">
        <pc:chgData name="Sujina Unger" userId="6444063f-9e43-49d3-b89a-21df28ac00ac" providerId="ADAL" clId="{ABD0CDA0-42D6-4DFF-A12A-5C0CA9709F67}" dt="2026-06-17T15:46:40.456" v="12" actId="20577"/>
        <pc:sldMkLst>
          <pc:docMk/>
          <pc:sldMk cId="2426600694" sldId="13494"/>
        </pc:sldMkLst>
        <pc:spChg chg="mod">
          <ac:chgData name="Sujina Unger" userId="6444063f-9e43-49d3-b89a-21df28ac00ac" providerId="ADAL" clId="{ABD0CDA0-42D6-4DFF-A12A-5C0CA9709F67}" dt="2026-06-17T15:46:37.434" v="10" actId="20577"/>
          <ac:spMkLst>
            <pc:docMk/>
            <pc:sldMk cId="2426600694" sldId="13494"/>
            <ac:spMk id="4" creationId="{0092915F-E5BD-3045-B789-A408F8310FE5}"/>
          </ac:spMkLst>
        </pc:spChg>
        <pc:spChg chg="mod">
          <ac:chgData name="Sujina Unger" userId="6444063f-9e43-49d3-b89a-21df28ac00ac" providerId="ADAL" clId="{ABD0CDA0-42D6-4DFF-A12A-5C0CA9709F67}" dt="2026-06-17T15:46:40.456" v="12" actId="20577"/>
          <ac:spMkLst>
            <pc:docMk/>
            <pc:sldMk cId="2426600694" sldId="13494"/>
            <ac:spMk id="6" creationId="{337E9886-8275-7044-A7E3-97EDFCD283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6A25B2-E702-CA42-A90F-7088F40FE025}"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DEE49-8595-6C4E-9CF4-AFCAF5F3F943}" type="slidenum">
              <a:rPr lang="en-US" smtClean="0"/>
              <a:t>‹#›</a:t>
            </a:fld>
            <a:endParaRPr lang="en-US"/>
          </a:p>
        </p:txBody>
      </p:sp>
    </p:spTree>
    <p:extLst>
      <p:ext uri="{BB962C8B-B14F-4D97-AF65-F5344CB8AC3E}">
        <p14:creationId xmlns:p14="http://schemas.microsoft.com/office/powerpoint/2010/main" val="4031194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560D05-7B88-9046-B38D-70E75F376094}" type="slidenum">
              <a:rPr lang="en-US" smtClean="0"/>
              <a:t>1</a:t>
            </a:fld>
            <a:endParaRPr lang="en-US"/>
          </a:p>
        </p:txBody>
      </p:sp>
    </p:spTree>
    <p:extLst>
      <p:ext uri="{BB962C8B-B14F-4D97-AF65-F5344CB8AC3E}">
        <p14:creationId xmlns:p14="http://schemas.microsoft.com/office/powerpoint/2010/main" val="3300621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after this / table of contents </a:t>
            </a:r>
          </a:p>
        </p:txBody>
      </p:sp>
      <p:sp>
        <p:nvSpPr>
          <p:cNvPr id="4" name="Slide Number Placeholder 3"/>
          <p:cNvSpPr>
            <a:spLocks noGrp="1"/>
          </p:cNvSpPr>
          <p:nvPr>
            <p:ph type="sldNum" sz="quarter" idx="5"/>
          </p:nvPr>
        </p:nvSpPr>
        <p:spPr/>
        <p:txBody>
          <a:bodyPr/>
          <a:lstStyle/>
          <a:p>
            <a:fld id="{55560D05-7B88-9046-B38D-70E75F376094}" type="slidenum">
              <a:rPr lang="en-US" smtClean="0"/>
              <a:t>6</a:t>
            </a:fld>
            <a:endParaRPr lang="en-US"/>
          </a:p>
        </p:txBody>
      </p:sp>
    </p:spTree>
    <p:extLst>
      <p:ext uri="{BB962C8B-B14F-4D97-AF65-F5344CB8AC3E}">
        <p14:creationId xmlns:p14="http://schemas.microsoft.com/office/powerpoint/2010/main" val="1648941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1443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9235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01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5447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01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74CFB78-952F-4B6C-82A0-15A1829ACCE1}" type="datetime7">
              <a:rPr lang="en-US" b="1" i="0" smtClean="0">
                <a:solidFill>
                  <a:schemeClr val="bg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chemeClr val="bg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65DE1C0-04C7-954C-8FF3-04310C92471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4047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8A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D33B532-62D8-4ED4-A565-822E0ED757B9}"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1C5E2E7-8E6F-2347-853D-9CF8A576E43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178651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FFAA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C9CF49C-CA31-4C14-A07D-25DF31D70329}"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7402CEB-5E97-FC45-97F2-070D68DC31DF}"/>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5211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FFE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7007ECE-36B1-4A65-B029-2C394B09E201}"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446D1A-735B-494C-B96C-BBF37B100F1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657109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EE4D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53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460BFC71-8CA8-A745-95B1-8399F0EE7EAB}"/>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4A4C863-CA59-46F8-90E5-0BBA85517B23}"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0" name="Straight Connector 9">
            <a:extLst>
              <a:ext uri="{FF2B5EF4-FFF2-40B4-BE49-F238E27FC236}">
                <a16:creationId xmlns:a16="http://schemas.microsoft.com/office/drawing/2014/main" id="{321B6409-3DCE-8248-A8E1-0D1339A7E184}"/>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1B56557-181D-A24A-B539-BF1EC898B0AB}"/>
              </a:ext>
            </a:extLst>
          </p:cNvPr>
          <p:cNvPicPr>
            <a:picLocks noChangeAspect="1"/>
          </p:cNvPicPr>
          <p:nvPr userDrawn="1"/>
        </p:nvPicPr>
        <p:blipFill>
          <a:blip r:embed="rId10"/>
          <a:stretch>
            <a:fillRect/>
          </a:stretch>
        </p:blipFill>
        <p:spPr>
          <a:xfrm>
            <a:off x="398828" y="6428616"/>
            <a:ext cx="515572" cy="154810"/>
          </a:xfrm>
          <a:prstGeom prst="rect">
            <a:avLst/>
          </a:prstGeom>
        </p:spPr>
      </p:pic>
    </p:spTree>
    <p:extLst>
      <p:ext uri="{BB962C8B-B14F-4D97-AF65-F5344CB8AC3E}">
        <p14:creationId xmlns:p14="http://schemas.microsoft.com/office/powerpoint/2010/main" val="4157557840"/>
      </p:ext>
    </p:extLst>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1" r:id="rId4"/>
    <p:sldLayoutId id="2147483654" r:id="rId5"/>
    <p:sldLayoutId id="2147483655" r:id="rId6"/>
    <p:sldLayoutId id="2147483657"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1C17392-C429-2A4E-BEC2-F8F1C04E4970}"/>
              </a:ext>
            </a:extLst>
          </p:cNvPr>
          <p:cNvSpPr txBox="1"/>
          <p:nvPr/>
        </p:nvSpPr>
        <p:spPr>
          <a:xfrm>
            <a:off x="7572176" y="5391350"/>
            <a:ext cx="3681179" cy="984885"/>
          </a:xfrm>
          <a:prstGeom prst="rect">
            <a:avLst/>
          </a:prstGeom>
          <a:noFill/>
        </p:spPr>
        <p:txBody>
          <a:bodyPr wrap="square" rtlCol="0">
            <a:spAutoFit/>
          </a:bodyPr>
          <a:lstStyle/>
          <a:p>
            <a:r>
              <a:rPr lang="en-CA" sz="1400" b="1">
                <a:solidFill>
                  <a:schemeClr val="bg1"/>
                </a:solidFill>
                <a:latin typeface="Helvetica" pitchFamily="2" charset="0"/>
                <a:ea typeface="Helvetica Neue" panose="02000503000000020004" pitchFamily="2" charset="0"/>
                <a:cs typeface="Helvetica Neue" panose="02000503000000020004" pitchFamily="2" charset="0"/>
              </a:rPr>
              <a:t>Client Name</a:t>
            </a:r>
          </a:p>
          <a:p>
            <a:endParaRPr lang="en-CA" sz="1400" b="1">
              <a:solidFill>
                <a:schemeClr val="bg1"/>
              </a:solidFill>
              <a:latin typeface="Helvetica" pitchFamily="2" charset="0"/>
              <a:ea typeface="Helvetica Neue" panose="02000503000000020004" pitchFamily="2" charset="0"/>
              <a:cs typeface="Helvetica Neue" panose="02000503000000020004" pitchFamily="2" charset="0"/>
            </a:endParaRPr>
          </a:p>
          <a:p>
            <a:r>
              <a:rPr lang="en-CA" sz="1200" b="1">
                <a:solidFill>
                  <a:schemeClr val="bg1"/>
                </a:solidFill>
                <a:latin typeface="Helvetica Neue" panose="02000503000000020004" pitchFamily="2" charset="0"/>
              </a:rPr>
              <a:t>Project Name</a:t>
            </a:r>
            <a:endParaRPr lang="en-CA" sz="1200">
              <a:solidFill>
                <a:schemeClr val="bg1"/>
              </a:solidFill>
              <a:effectLst/>
              <a:latin typeface="Helvetica Neue" panose="02000503000000020004" pitchFamily="2" charset="0"/>
            </a:endParaRPr>
          </a:p>
          <a:p>
            <a:endParaRPr lang="en-US">
              <a:solidFill>
                <a:schemeClr val="bg1"/>
              </a:solidFill>
              <a:latin typeface="Helvetica" pitchFamily="2" charset="0"/>
            </a:endParaRPr>
          </a:p>
        </p:txBody>
      </p:sp>
      <p:sp>
        <p:nvSpPr>
          <p:cNvPr id="11" name="TextBox 10">
            <a:extLst>
              <a:ext uri="{FF2B5EF4-FFF2-40B4-BE49-F238E27FC236}">
                <a16:creationId xmlns:a16="http://schemas.microsoft.com/office/drawing/2014/main" id="{E9B011A1-B1AF-BB40-83BB-84BB28DC1E88}"/>
              </a:ext>
            </a:extLst>
          </p:cNvPr>
          <p:cNvSpPr txBox="1"/>
          <p:nvPr/>
        </p:nvSpPr>
        <p:spPr>
          <a:xfrm>
            <a:off x="7572176" y="4676646"/>
            <a:ext cx="2187929" cy="246221"/>
          </a:xfrm>
          <a:prstGeom prst="rect">
            <a:avLst/>
          </a:prstGeom>
          <a:noFill/>
        </p:spPr>
        <p:txBody>
          <a:bodyPr wrap="square" rtlCol="0">
            <a:spAutoFit/>
          </a:bodyPr>
          <a:lstStyle/>
          <a:p>
            <a:r>
              <a:rPr lang="en-CA" sz="1000" b="1" spc="300" dirty="0">
                <a:solidFill>
                  <a:schemeClr val="bg1"/>
                </a:solidFill>
                <a:latin typeface="Helvetica" pitchFamily="2" charset="0"/>
                <a:ea typeface="Helvetica Neue" panose="02000503000000020004" pitchFamily="2" charset="0"/>
                <a:cs typeface="Helvetica Neue" panose="02000503000000020004" pitchFamily="2" charset="0"/>
              </a:rPr>
              <a:t>MONTH YEAR</a:t>
            </a:r>
            <a:endParaRPr lang="en-US" sz="1000" spc="300" dirty="0">
              <a:solidFill>
                <a:schemeClr val="bg1"/>
              </a:solidFill>
              <a:latin typeface="Helvetica" pitchFamily="2" charset="0"/>
            </a:endParaRPr>
          </a:p>
        </p:txBody>
      </p:sp>
      <p:cxnSp>
        <p:nvCxnSpPr>
          <p:cNvPr id="3" name="Straight Connector 2">
            <a:extLst>
              <a:ext uri="{FF2B5EF4-FFF2-40B4-BE49-F238E27FC236}">
                <a16:creationId xmlns:a16="http://schemas.microsoft.com/office/drawing/2014/main" id="{2C4A6B61-E6E4-C72F-2652-26A496A6D6B8}"/>
              </a:ext>
            </a:extLst>
          </p:cNvPr>
          <p:cNvCxnSpPr>
            <a:cxnSpLocks/>
          </p:cNvCxnSpPr>
          <p:nvPr/>
        </p:nvCxnSpPr>
        <p:spPr>
          <a:xfrm>
            <a:off x="7663329" y="5174406"/>
            <a:ext cx="4805762" cy="0"/>
          </a:xfrm>
          <a:prstGeom prst="line">
            <a:avLst/>
          </a:prstGeom>
          <a:ln>
            <a:solidFill>
              <a:srgbClr val="D1E000"/>
            </a:solidFill>
          </a:ln>
        </p:spPr>
        <p:style>
          <a:lnRef idx="1">
            <a:schemeClr val="accent1"/>
          </a:lnRef>
          <a:fillRef idx="0">
            <a:schemeClr val="accent1"/>
          </a:fillRef>
          <a:effectRef idx="0">
            <a:schemeClr val="accent1"/>
          </a:effectRef>
          <a:fontRef idx="minor">
            <a:schemeClr val="tx1"/>
          </a:fontRef>
        </p:style>
      </p:cxnSp>
      <p:pic>
        <p:nvPicPr>
          <p:cNvPr id="4" name="Picture 11">
            <a:extLst>
              <a:ext uri="{FF2B5EF4-FFF2-40B4-BE49-F238E27FC236}">
                <a16:creationId xmlns:a16="http://schemas.microsoft.com/office/drawing/2014/main" id="{0ACD9BB6-89EB-3F92-04AC-B46E0E903A7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76016" y="599290"/>
            <a:ext cx="1434460" cy="424276"/>
          </a:xfrm>
          <a:prstGeom prst="rect">
            <a:avLst/>
          </a:prstGeom>
        </p:spPr>
      </p:pic>
    </p:spTree>
    <p:extLst>
      <p:ext uri="{BB962C8B-B14F-4D97-AF65-F5344CB8AC3E}">
        <p14:creationId xmlns:p14="http://schemas.microsoft.com/office/powerpoint/2010/main" val="3834350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707719-7D77-ACB7-0D14-1A615273FBCE}"/>
              </a:ext>
            </a:extLst>
          </p:cNvPr>
          <p:cNvSpPr txBox="1"/>
          <p:nvPr/>
        </p:nvSpPr>
        <p:spPr>
          <a:xfrm>
            <a:off x="748754" y="2314679"/>
            <a:ext cx="4977344" cy="2929007"/>
          </a:xfrm>
          <a:prstGeom prst="rect">
            <a:avLst/>
          </a:prstGeom>
          <a:noFill/>
        </p:spPr>
        <p:txBody>
          <a:bodyPr wrap="square" rtlCol="0">
            <a:spAutoFit/>
          </a:bodyPr>
          <a:lstStyle/>
          <a:p>
            <a:pPr marL="0" marR="0">
              <a:spcBef>
                <a:spcPts val="200"/>
              </a:spcBef>
            </a:pPr>
            <a:r>
              <a:rPr lang="en-US" sz="12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Payment Schedule</a:t>
            </a:r>
            <a:endParaRPr lang="en-US" sz="1200" dirty="0">
              <a:latin typeface="Helvetica" panose="020B0604020202020204" pitchFamily="34" charset="0"/>
              <a:ea typeface="Calibri" panose="020F0502020204030204" pitchFamily="34" charset="0"/>
              <a:cs typeface="Helvetica" panose="020B0604020202020204" pitchFamily="34" charset="0"/>
            </a:endParaRP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Project fees amortized over the course of the X-month engagement for the X project, with payment on the 1st of every month.</a:t>
            </a: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Any additional scopes or estimates will be approved separately.</a:t>
            </a: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If delivery of scoped work extends beyond X months due to client-related delays, the monthly fee will be extended for each subsequent month.</a:t>
            </a:r>
          </a:p>
          <a:p>
            <a:pPr>
              <a:spcBef>
                <a:spcPts val="200"/>
              </a:spcBef>
            </a:pPr>
            <a:endParaRPr lang="en-US" sz="1000" dirty="0"/>
          </a:p>
          <a:p>
            <a:pPr marL="0" marR="0">
              <a:spcBef>
                <a:spcPts val="200"/>
              </a:spcBef>
              <a:spcAft>
                <a:spcPts val="0"/>
              </a:spcAft>
            </a:pPr>
            <a:r>
              <a:rPr lang="en-US" sz="12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Estimate Terms</a:t>
            </a:r>
            <a:endParaRPr lang="en-US" sz="120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spcBef>
                <a:spcPts val="200"/>
              </a:spcBef>
            </a:pPr>
            <a:r>
              <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This price quotation will be honored for 30 days from the day it was sent.</a:t>
            </a:r>
          </a:p>
          <a:p>
            <a:pPr>
              <a:spcBef>
                <a:spcPts val="200"/>
              </a:spcBef>
            </a:pPr>
            <a:endParaRPr lang="en-US" sz="1000" dirty="0"/>
          </a:p>
          <a:p>
            <a:pPr>
              <a:spcBef>
                <a:spcPts val="200"/>
              </a:spcBef>
            </a:pPr>
            <a:r>
              <a:rPr lang="en-CA" sz="1200" b="1" dirty="0">
                <a:solidFill>
                  <a:schemeClr val="tx1"/>
                </a:solidFill>
                <a:latin typeface="Helvetica"/>
              </a:rPr>
              <a:t>Payment Terms</a:t>
            </a:r>
          </a:p>
          <a:p>
            <a:pPr marL="171450" indent="-171450">
              <a:spcBef>
                <a:spcPts val="200"/>
              </a:spcBef>
              <a:buFont typeface="Arial" panose="020B0604020202020204" pitchFamily="34" charset="0"/>
              <a:buChar char="•"/>
            </a:pPr>
            <a:r>
              <a:rPr lang="en-US" sz="1000" dirty="0">
                <a:effectLst/>
                <a:latin typeface="Helvetica" panose="020B0604020202020204" pitchFamily="34" charset="0"/>
                <a:ea typeface="Calibri" panose="020F0502020204030204" pitchFamily="34" charset="0"/>
                <a:cs typeface="Times New Roman" panose="02020603050405020304" pitchFamily="18" charset="0"/>
              </a:rPr>
              <a:t>All Terms &amp; Conditions are outlined in the Master Services Agreement and will be signed separately. Once the MSA is signed, these Terms and Conditions will hold for all future scoped work.</a:t>
            </a:r>
          </a:p>
          <a:p>
            <a:pPr marL="171450" indent="-171450">
              <a:spcBef>
                <a:spcPts val="200"/>
              </a:spcBef>
              <a:buFont typeface="Arial" panose="020B0604020202020204" pitchFamily="34" charset="0"/>
              <a:buChar char="•"/>
            </a:pPr>
            <a:endParaRPr lang="en-US" sz="1000" dirty="0">
              <a:latin typeface="Helvetica" panose="020B0604020202020204" pitchFamily="34" charset="0"/>
              <a:ea typeface="Calibri" panose="020F0502020204030204" pitchFamily="34" charset="0"/>
              <a:cs typeface="Times New Roman" panose="02020603050405020304" pitchFamily="18" charset="0"/>
            </a:endParaRPr>
          </a:p>
          <a:p>
            <a:pPr>
              <a:spcBef>
                <a:spcPts val="200"/>
              </a:spcBef>
            </a:pPr>
            <a:endParaRPr lang="en-US" sz="1000" dirty="0">
              <a:effectLst/>
              <a:latin typeface="Univers LT Pro 45 Light"/>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DBB0DFE-0E06-0593-44C2-BE902750C010}"/>
              </a:ext>
            </a:extLst>
          </p:cNvPr>
          <p:cNvSpPr txBox="1"/>
          <p:nvPr/>
        </p:nvSpPr>
        <p:spPr>
          <a:xfrm>
            <a:off x="6474852" y="2314679"/>
            <a:ext cx="4746525" cy="1713290"/>
          </a:xfrm>
          <a:prstGeom prst="rect">
            <a:avLst/>
          </a:prstGeom>
          <a:noFill/>
        </p:spPr>
        <p:txBody>
          <a:bodyPr wrap="square" rtlCol="0">
            <a:spAutoFit/>
          </a:bodyPr>
          <a:lstStyle/>
          <a:p>
            <a:pPr>
              <a:spcBef>
                <a:spcPts val="200"/>
              </a:spcBef>
            </a:pPr>
            <a:r>
              <a:rPr lang="en-US" sz="1200" b="1">
                <a:latin typeface="Helvetica"/>
              </a:rPr>
              <a:t>Remittance Details</a:t>
            </a:r>
          </a:p>
          <a:p>
            <a:pPr marL="171450"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Electronic Fund Transfer (EFT) is preferred.</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Bank: RBC Royal Bank of Canada</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Branch (Transit)#: 01050</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Bank #: 003</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Swift Code: ROYCCAT2</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Account #: 1012624</a:t>
            </a:r>
          </a:p>
          <a:p>
            <a:pPr marL="628650" lvl="1" indent="-171450">
              <a:spcBef>
                <a:spcPts val="200"/>
              </a:spcBef>
              <a:buFont typeface="Arial" panose="020B0604020202020204" pitchFamily="34" charset="0"/>
              <a:buChar char="•"/>
            </a:pPr>
            <a:r>
              <a:rPr lang="en-US" sz="1000">
                <a:latin typeface="Helvetica" panose="020B0604020202020204" pitchFamily="34" charset="0"/>
                <a:cs typeface="Times New Roman" panose="02020603050405020304" pitchFamily="18" charset="0"/>
              </a:rPr>
              <a:t>Bank Type: </a:t>
            </a:r>
            <a:r>
              <a:rPr lang="en-US" sz="1000" err="1">
                <a:latin typeface="Helvetica" panose="020B0604020202020204" pitchFamily="34" charset="0"/>
                <a:cs typeface="Times New Roman" panose="02020603050405020304" pitchFamily="18" charset="0"/>
              </a:rPr>
              <a:t>Chequing</a:t>
            </a:r>
            <a:endParaRPr lang="en-US" sz="1000">
              <a:latin typeface="Helvetica" panose="020B0604020202020204" pitchFamily="34" charset="0"/>
              <a:cs typeface="Times New Roman" panose="02020603050405020304" pitchFamily="18" charset="0"/>
            </a:endParaRPr>
          </a:p>
          <a:p>
            <a:pPr marL="171450" indent="-171450">
              <a:spcBef>
                <a:spcPts val="200"/>
              </a:spcBef>
              <a:buFont typeface="Arial" panose="020B0604020202020204" pitchFamily="34" charset="0"/>
              <a:buChar char="•"/>
            </a:pPr>
            <a:r>
              <a:rPr lang="en-US" sz="1000" err="1">
                <a:latin typeface="Helvetica" panose="020B0604020202020204" pitchFamily="34" charset="0"/>
                <a:cs typeface="Times New Roman" panose="02020603050405020304" pitchFamily="18" charset="0"/>
              </a:rPr>
              <a:t>Interac</a:t>
            </a:r>
            <a:r>
              <a:rPr lang="en-US" sz="1000">
                <a:latin typeface="Helvetica" panose="020B0604020202020204" pitchFamily="34" charset="0"/>
                <a:cs typeface="Times New Roman" panose="02020603050405020304" pitchFamily="18" charset="0"/>
              </a:rPr>
              <a:t> E-Transfer to ap@crewmp.com</a:t>
            </a:r>
          </a:p>
        </p:txBody>
      </p:sp>
      <p:cxnSp>
        <p:nvCxnSpPr>
          <p:cNvPr id="4" name="Straight Connector 3">
            <a:extLst>
              <a:ext uri="{FF2B5EF4-FFF2-40B4-BE49-F238E27FC236}">
                <a16:creationId xmlns:a16="http://schemas.microsoft.com/office/drawing/2014/main" id="{9890D226-4889-24A7-19F7-EAD9BBD95643}"/>
              </a:ext>
            </a:extLst>
          </p:cNvPr>
          <p:cNvCxnSpPr>
            <a:cxnSpLocks/>
          </p:cNvCxnSpPr>
          <p:nvPr/>
        </p:nvCxnSpPr>
        <p:spPr>
          <a:xfrm>
            <a:off x="860071" y="1923083"/>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76FC17-A07E-A2E0-D058-AE9C47517609}"/>
              </a:ext>
            </a:extLst>
          </p:cNvPr>
          <p:cNvSpPr txBox="1"/>
          <p:nvPr/>
        </p:nvSpPr>
        <p:spPr>
          <a:xfrm>
            <a:off x="748753" y="1159132"/>
            <a:ext cx="6447178" cy="372356"/>
          </a:xfrm>
          <a:prstGeom prst="rect">
            <a:avLst/>
          </a:prstGeom>
          <a:noFill/>
        </p:spPr>
        <p:txBody>
          <a:bodyPr wrap="none" lIns="91440" tIns="45720" rIns="91440" bIns="45720" rtlCol="0" anchor="t">
            <a:noAutofit/>
          </a:bodyPr>
          <a:lstStyle/>
          <a:p>
            <a:pPr defTabSz="915988">
              <a:lnSpc>
                <a:spcPct val="80000"/>
              </a:lnSpc>
            </a:pPr>
            <a:r>
              <a:rPr lang="en-US" sz="4000" b="1">
                <a:solidFill>
                  <a:srgbClr val="000000"/>
                </a:solidFill>
                <a:latin typeface="Helvetica"/>
              </a:rPr>
              <a:t>Payment Process</a:t>
            </a:r>
            <a:endParaRPr lang="en-US"/>
          </a:p>
        </p:txBody>
      </p:sp>
    </p:spTree>
    <p:extLst>
      <p:ext uri="{BB962C8B-B14F-4D97-AF65-F5344CB8AC3E}">
        <p14:creationId xmlns:p14="http://schemas.microsoft.com/office/powerpoint/2010/main" val="3764134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3" y="1268136"/>
            <a:ext cx="5206569" cy="4349717"/>
          </a:xfrm>
          <a:prstGeom prst="rect">
            <a:avLst/>
          </a:prstGeom>
        </p:spPr>
        <p:txBody>
          <a:bodyPr wrap="square">
            <a:spAutoFit/>
          </a:bodyPr>
          <a:lstStyle/>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IN WITNESS WHEREOF the parties have executed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this Agreement this _______</a:t>
            </a:r>
            <a:r>
              <a:rPr lang="en-US" sz="1200" b="1" dirty="0">
                <a:solidFill>
                  <a:srgbClr val="010101"/>
                </a:solidFill>
                <a:latin typeface="Helvetica" pitchFamily="2" charset="0"/>
                <a:ea typeface="Helvetica Neue" panose="02000503000000020004" pitchFamily="2" charset="0"/>
                <a:cs typeface="Helvetica Neue" panose="02000503000000020004" pitchFamily="2" charset="0"/>
              </a:rPr>
              <a:t> </a:t>
            </a: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day of _______, 2026.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Crew Marketing Partners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Braden Douglas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FF0000"/>
                </a:solidFill>
                <a:latin typeface="Helvetica" pitchFamily="2" charset="0"/>
                <a:ea typeface="Helvetica Neue" panose="02000503000000020004" pitchFamily="2" charset="0"/>
                <a:cs typeface="Helvetica Neue" panose="02000503000000020004" pitchFamily="2" charset="0"/>
              </a:rPr>
              <a:t>Nature’s Path</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Print Name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7"/>
            <a:ext cx="5487923" cy="605052"/>
          </a:xfrm>
          <a:prstGeom prst="rect">
            <a:avLst/>
          </a:prstGeom>
          <a:noFill/>
        </p:spPr>
        <p:txBody>
          <a:bodyPr wrap="none" rtlCol="0">
            <a:noAutofit/>
          </a:bodyPr>
          <a:lstStyle/>
          <a:p>
            <a:pPr algn="r" defTabSz="915988">
              <a:lnSpc>
                <a:spcPct val="80000"/>
              </a:lnSpc>
            </a:pPr>
            <a:r>
              <a:rPr lang="en-US" sz="4000">
                <a:solidFill>
                  <a:srgbClr val="FF0000"/>
                </a:solidFill>
                <a:latin typeface="Helvetica Light" panose="020B0403020202020204" pitchFamily="34" charset="0"/>
                <a:ea typeface="Helvetica Neue" panose="02000503000000020004" pitchFamily="2" charset="0"/>
                <a:cs typeface="Helvetica Neue" panose="02000503000000020004" pitchFamily="2" charset="0"/>
              </a:rPr>
              <a:t>Client Name</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035154"/>
            <a:ext cx="3669842" cy="423899"/>
          </a:xfrm>
          <a:prstGeom prst="rect">
            <a:avLst/>
          </a:prstGeom>
        </p:spPr>
        <p:txBody>
          <a:bodyPr wrap="square">
            <a:spAutoFit/>
          </a:bodyPr>
          <a:lstStyle/>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TIKTOK</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PROPOSAL</a:t>
            </a:r>
          </a:p>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JULY</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 2026</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1246933" y="330011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BC36C2-18AE-A548-B902-A76739997EC0}"/>
              </a:ext>
            </a:extLst>
          </p:cNvPr>
          <p:cNvCxnSpPr>
            <a:cxnSpLocks/>
          </p:cNvCxnSpPr>
          <p:nvPr/>
        </p:nvCxnSpPr>
        <p:spPr>
          <a:xfrm>
            <a:off x="1246933" y="509374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71155-2446-B842-A8E8-14181ACC9D30}"/>
              </a:ext>
            </a:extLst>
          </p:cNvPr>
          <p:cNvCxnSpPr>
            <a:cxnSpLocks/>
          </p:cNvCxnSpPr>
          <p:nvPr/>
        </p:nvCxnSpPr>
        <p:spPr>
          <a:xfrm>
            <a:off x="1746738" y="5492326"/>
            <a:ext cx="3153508"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7946A138-6C11-9D49-8FE9-C884B6AB75EE}"/>
              </a:ext>
            </a:extLst>
          </p:cNvPr>
          <p:cNvPicPr>
            <a:picLocks noChangeAspect="1"/>
          </p:cNvPicPr>
          <p:nvPr/>
        </p:nvPicPr>
        <p:blipFill>
          <a:blip r:embed="rId2"/>
          <a:stretch>
            <a:fillRect/>
          </a:stretch>
        </p:blipFill>
        <p:spPr>
          <a:xfrm>
            <a:off x="1531815" y="2811503"/>
            <a:ext cx="1627502" cy="626588"/>
          </a:xfrm>
          <a:prstGeom prst="rect">
            <a:avLst/>
          </a:prstGeom>
        </p:spPr>
      </p:pic>
      <p:sp>
        <p:nvSpPr>
          <p:cNvPr id="2" name="Rectangle 1">
            <a:extLst>
              <a:ext uri="{FF2B5EF4-FFF2-40B4-BE49-F238E27FC236}">
                <a16:creationId xmlns:a16="http://schemas.microsoft.com/office/drawing/2014/main" id="{0530975A-33A0-CED3-0F47-2CF3802EED85}"/>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6600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707719-7D77-ACB7-0D14-1A615273FBCE}"/>
              </a:ext>
            </a:extLst>
          </p:cNvPr>
          <p:cNvSpPr txBox="1"/>
          <p:nvPr/>
        </p:nvSpPr>
        <p:spPr>
          <a:xfrm>
            <a:off x="748754" y="2314678"/>
            <a:ext cx="10124458" cy="3995585"/>
          </a:xfrm>
          <a:prstGeom prst="rect">
            <a:avLst/>
          </a:prstGeom>
          <a:noFill/>
        </p:spPr>
        <p:txBody>
          <a:bodyPr wrap="square" numCol="2" spcCol="457200" rtlCol="0">
            <a:noAutofit/>
          </a:bodyPr>
          <a:lstStyle/>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Hard Costs and Deposits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For projects with significant external hard costs, such as influencer fees, production, and media expenses, a 75% deposit is required before work begins. This ensures timely booking of necessary resources to initiate the project. </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Payment Terms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Invoices are due and payable within 15 days of receipt, unless otherwise agreed in writing. Payments not received within 30 days of the invoice due date will accrue interest at 2% per month (24% annually).</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Late Payments and Work Suspension</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If any payment is 45 days past due (in accordance with your payment terms), we will issue a 7-day notice. If payment is not received within this notice period, all work will be suspended until payment is caught up.</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Response Timeliness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The Client is required to respond to inquiries or project milestones within 15 business days. Failure to do so may result in suspension of services. If suspension extends beyond 30 days, the Client will be invoiced for partially completed work, which will be immediately due. A reactivation fee of 15% of the total fees will apply after suspension.</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Shipping, Expenses, and Additional Costs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All shipping, postage, and third-party costs (e.g., media, printers) are additional and will be billed separately. Approval for out-of-pocket expenses (e.g., travel, stock photography) must be obtained in advance.</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Termination and Final Payments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If the agreement is terminated, any remaining agency fees will become due immediately, along with any applicable interest and taxes.</a:t>
            </a:r>
          </a:p>
          <a:p>
            <a:pPr marL="685800" lvl="1" indent="-228600">
              <a:spcBef>
                <a:spcPts val="200"/>
              </a:spcBef>
              <a:buFont typeface="Arial" panose="020B0604020202020204" pitchFamily="34" charset="0"/>
              <a:buChar char="•"/>
            </a:pPr>
            <a:endParaRPr lang="en-US" sz="1100" dirty="0">
              <a:latin typeface="Helvetica" panose="020B0604020202020204" pitchFamily="34" charset="0"/>
              <a:ea typeface="Calibri" panose="020F0502020204030204" pitchFamily="34" charset="0"/>
              <a:cs typeface="Times New Roman" panose="02020603050405020304" pitchFamily="18" charset="0"/>
            </a:endParaRPr>
          </a:p>
          <a:p>
            <a:pPr marL="685800" lvl="1" indent="-228600">
              <a:spcBef>
                <a:spcPts val="200"/>
              </a:spcBef>
              <a:buFont typeface="Arial" panose="020B0604020202020204" pitchFamily="34" charset="0"/>
              <a:buChar char="•"/>
            </a:pPr>
            <a:endParaRPr lang="en-US" sz="1100" dirty="0">
              <a:effectLst/>
              <a:latin typeface="Helvetica" panose="020B0604020202020204" pitchFamily="34" charset="0"/>
              <a:ea typeface="Calibri" panose="020F0502020204030204" pitchFamily="34" charset="0"/>
              <a:cs typeface="Times New Roman" panose="02020603050405020304" pitchFamily="18" charset="0"/>
            </a:endParaRPr>
          </a:p>
          <a:p>
            <a:pPr marL="685800" lvl="1" indent="-228600">
              <a:spcBef>
                <a:spcPts val="200"/>
              </a:spcBef>
              <a:buFont typeface="Arial" panose="020B0604020202020204" pitchFamily="34" charset="0"/>
              <a:buChar char="•"/>
            </a:pPr>
            <a:endParaRPr lang="en-US" sz="1100" dirty="0">
              <a:latin typeface="Helvetica" panose="020B0604020202020204" pitchFamily="34" charset="0"/>
              <a:ea typeface="Calibri" panose="020F0502020204030204" pitchFamily="34" charset="0"/>
              <a:cs typeface="Times New Roman" panose="02020603050405020304" pitchFamily="18" charset="0"/>
            </a:endParaRPr>
          </a:p>
          <a:p>
            <a:pPr lvl="1">
              <a:spcBef>
                <a:spcPts val="200"/>
              </a:spcBef>
            </a:pPr>
            <a:r>
              <a:rPr lang="en-US" sz="1100" dirty="0">
                <a:latin typeface="Helvetica" panose="020B0604020202020204" pitchFamily="34" charset="0"/>
                <a:ea typeface="Calibri" panose="020F0502020204030204" pitchFamily="34" charset="0"/>
                <a:cs typeface="Times New Roman" panose="02020603050405020304" pitchFamily="18" charset="0"/>
              </a:rPr>
              <a:t>Initials ___________</a:t>
            </a:r>
            <a:endParaRPr lang="en-US" sz="1100" dirty="0">
              <a:effectLst/>
              <a:latin typeface="Univers LT Pro 45 Light"/>
              <a:ea typeface="Calibri" panose="020F0502020204030204" pitchFamily="34"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890D226-4889-24A7-19F7-EAD9BBD95643}"/>
              </a:ext>
            </a:extLst>
          </p:cNvPr>
          <p:cNvCxnSpPr>
            <a:cxnSpLocks/>
          </p:cNvCxnSpPr>
          <p:nvPr/>
        </p:nvCxnSpPr>
        <p:spPr>
          <a:xfrm>
            <a:off x="860071" y="1923083"/>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76FC17-A07E-A2E0-D058-AE9C47517609}"/>
              </a:ext>
            </a:extLst>
          </p:cNvPr>
          <p:cNvSpPr txBox="1"/>
          <p:nvPr/>
        </p:nvSpPr>
        <p:spPr>
          <a:xfrm>
            <a:off x="748753" y="1159132"/>
            <a:ext cx="6447178" cy="372356"/>
          </a:xfrm>
          <a:prstGeom prst="rect">
            <a:avLst/>
          </a:prstGeom>
          <a:noFill/>
        </p:spPr>
        <p:txBody>
          <a:bodyPr wrap="none" lIns="91440" tIns="45720" rIns="91440" bIns="45720" rtlCol="0" anchor="t">
            <a:noAutofit/>
          </a:bodyPr>
          <a:lstStyle/>
          <a:p>
            <a:pPr defTabSz="915988">
              <a:lnSpc>
                <a:spcPct val="80000"/>
              </a:lnSpc>
            </a:pPr>
            <a:r>
              <a:rPr lang="en-US" sz="3600" b="1">
                <a:solidFill>
                  <a:srgbClr val="000000"/>
                </a:solidFill>
                <a:latin typeface="Helvetica"/>
              </a:rPr>
              <a:t>Payment and Response Agreement</a:t>
            </a:r>
            <a:endParaRPr lang="en-US" sz="3600"/>
          </a:p>
        </p:txBody>
      </p:sp>
    </p:spTree>
    <p:extLst>
      <p:ext uri="{BB962C8B-B14F-4D97-AF65-F5344CB8AC3E}">
        <p14:creationId xmlns:p14="http://schemas.microsoft.com/office/powerpoint/2010/main" val="80906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4" y="1268136"/>
            <a:ext cx="4435806" cy="2311082"/>
          </a:xfrm>
          <a:prstGeom prst="rect">
            <a:avLst/>
          </a:prstGeom>
        </p:spPr>
        <p:txBody>
          <a:bodyPr wrap="square">
            <a:spAutoFit/>
          </a:bodyPr>
          <a:lstStyle/>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Please provide the following information for us to set up your billing &amp; invoicing schedule: </a:t>
            </a: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Accounting Contact Name / </a:t>
            </a: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Billing Address /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6"/>
            <a:ext cx="5487923" cy="877187"/>
          </a:xfrm>
          <a:prstGeom prst="rect">
            <a:avLst/>
          </a:prstGeom>
          <a:noFill/>
        </p:spPr>
        <p:txBody>
          <a:bodyPr wrap="none" rtlCol="0">
            <a:noAutofit/>
          </a:bodyPr>
          <a:lstStyle/>
          <a:p>
            <a:pPr algn="r" defTabSz="915988">
              <a:lnSpc>
                <a:spcPct val="80000"/>
              </a:lnSpc>
            </a:pPr>
            <a:r>
              <a:rPr lang="en-US" sz="5400">
                <a:solidFill>
                  <a:srgbClr val="010101"/>
                </a:solidFill>
                <a:latin typeface="Helvetica Light" panose="020B0403020202020204" pitchFamily="34" charset="0"/>
                <a:ea typeface="Helvetica Neue" panose="02000503000000020004" pitchFamily="2" charset="0"/>
                <a:cs typeface="Helvetica Neue" panose="02000503000000020004" pitchFamily="2" charset="0"/>
              </a:rPr>
              <a:t>Company Name</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145323"/>
            <a:ext cx="3669842" cy="248466"/>
          </a:xfrm>
          <a:prstGeom prst="rect">
            <a:avLst/>
          </a:prstGeom>
        </p:spPr>
        <p:txBody>
          <a:bodyPr wrap="square">
            <a:spAutoFit/>
          </a:bodyPr>
          <a:lstStyle/>
          <a:p>
            <a:pPr algn="r" defTabSz="915988">
              <a:lnSpc>
                <a:spcPct val="110000"/>
              </a:lnSpc>
            </a:pPr>
            <a:r>
              <a:rPr lang="en-US" sz="1000" b="1" spc="100">
                <a:solidFill>
                  <a:srgbClr val="010101"/>
                </a:solidFill>
                <a:latin typeface="Helvetica" pitchFamily="2" charset="0"/>
                <a:ea typeface="Helvetica Neue" panose="02000503000000020004" pitchFamily="2" charset="0"/>
                <a:cs typeface="Helvetica Neue" panose="02000503000000020004" pitchFamily="2" charset="0"/>
              </a:rPr>
              <a:t>BILLING INFORMATION</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847437" y="2989393"/>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139B09-EC74-4D1E-88CB-DC8DF45E5E17}"/>
              </a:ext>
            </a:extLst>
          </p:cNvPr>
          <p:cNvCxnSpPr>
            <a:cxnSpLocks/>
          </p:cNvCxnSpPr>
          <p:nvPr/>
        </p:nvCxnSpPr>
        <p:spPr>
          <a:xfrm>
            <a:off x="847437" y="3754353"/>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4D826AD-6EDE-4057-94D0-F98082ECA518}"/>
              </a:ext>
            </a:extLst>
          </p:cNvPr>
          <p:cNvCxnSpPr>
            <a:cxnSpLocks/>
          </p:cNvCxnSpPr>
          <p:nvPr/>
        </p:nvCxnSpPr>
        <p:spPr>
          <a:xfrm>
            <a:off x="847437" y="4501557"/>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A601EC3-ECEE-4996-82EB-A252AD7A79E7}"/>
              </a:ext>
            </a:extLst>
          </p:cNvPr>
          <p:cNvCxnSpPr>
            <a:cxnSpLocks/>
          </p:cNvCxnSpPr>
          <p:nvPr/>
        </p:nvCxnSpPr>
        <p:spPr>
          <a:xfrm>
            <a:off x="847437" y="4139051"/>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16ADF78-0A2B-4EF3-5D7C-78F86A9DF757}"/>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8447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233355-0AA5-5B7D-753A-93F473B74D6E}"/>
              </a:ext>
            </a:extLst>
          </p:cNvPr>
          <p:cNvSpPr/>
          <p:nvPr/>
        </p:nvSpPr>
        <p:spPr>
          <a:xfrm>
            <a:off x="713531" y="4114859"/>
            <a:ext cx="8546216" cy="2099036"/>
          </a:xfrm>
          <a:prstGeom prst="rect">
            <a:avLst/>
          </a:prstGeom>
        </p:spPr>
        <p:txBody>
          <a:bodyPr wrap="square" lIns="91440" tIns="45720" rIns="91440" bIns="45720" anchor="b" anchorCtr="0">
            <a:spAutoFit/>
          </a:bodyPr>
          <a:lstStyle/>
          <a:p>
            <a:pPr defTabSz="915988">
              <a:lnSpc>
                <a:spcPct val="80000"/>
              </a:lnSpc>
            </a:pPr>
            <a:r>
              <a:rPr lang="en-US" sz="8000" b="1">
                <a:solidFill>
                  <a:schemeClr val="bg1"/>
                </a:solidFill>
                <a:latin typeface="Helvetica"/>
                <a:ea typeface="Helvetica Neue" panose="02000503000000020004" pitchFamily="2" charset="0"/>
                <a:cs typeface="Helvetica Neue" panose="02000503000000020004" pitchFamily="2" charset="0"/>
              </a:rPr>
              <a:t>Terms &amp; Conditions</a:t>
            </a:r>
            <a:endParaRPr lang="en-US" sz="4400" b="1">
              <a:solidFill>
                <a:schemeClr val="bg1"/>
              </a:solidFill>
              <a:latin typeface="Helvetica"/>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40582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extLst>
              <p:ext uri="{D42A27DB-BD31-4B8C-83A1-F6EECF244321}">
                <p14:modId xmlns:p14="http://schemas.microsoft.com/office/powerpoint/2010/main" val="3775364095"/>
              </p:ext>
            </p:extLst>
          </p:nvPr>
        </p:nvGraphicFramePr>
        <p:xfrm>
          <a:off x="748753" y="1155012"/>
          <a:ext cx="10652613" cy="481584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lnSpc>
                          <a:spcPct val="100000"/>
                        </a:lnSpc>
                        <a:spcAft>
                          <a:spcPts val="800"/>
                        </a:spcAft>
                      </a:pPr>
                      <a:r>
                        <a:rPr lang="en-US" sz="900" b="1" kern="1200">
                          <a:solidFill>
                            <a:schemeClr val="tx1"/>
                          </a:solidFill>
                          <a:effectLst/>
                          <a:latin typeface="Helvetica" pitchFamily="2" charset="0"/>
                          <a:ea typeface="+mn-ea"/>
                          <a:cs typeface="+mn-cs"/>
                        </a:rPr>
                        <a:t>This Master Services Agreement, hereinafter referred to as the “Agreement,” effective as of </a:t>
                      </a:r>
                      <a:r>
                        <a:rPr lang="en-US" sz="900" b="1" kern="1200">
                          <a:solidFill>
                            <a:srgbClr val="FF0000"/>
                          </a:solidFill>
                          <a:effectLst/>
                          <a:latin typeface="Helvetica" pitchFamily="2" charset="0"/>
                          <a:ea typeface="+mn-ea"/>
                          <a:cs typeface="+mn-cs"/>
                        </a:rPr>
                        <a:t>____(Date)____, </a:t>
                      </a:r>
                      <a:r>
                        <a:rPr lang="en-US" sz="900" b="1" kern="1200">
                          <a:solidFill>
                            <a:schemeClr val="tx1"/>
                          </a:solidFill>
                          <a:effectLst/>
                          <a:latin typeface="Helvetica" pitchFamily="2" charset="0"/>
                          <a:ea typeface="+mn-ea"/>
                          <a:cs typeface="+mn-cs"/>
                        </a:rPr>
                        <a:t>is by and between </a:t>
                      </a:r>
                      <a:r>
                        <a:rPr lang="en-US" sz="900" b="1" kern="1200">
                          <a:solidFill>
                            <a:srgbClr val="FF0000"/>
                          </a:solidFill>
                          <a:effectLst/>
                          <a:latin typeface="Helvetica" pitchFamily="2" charset="0"/>
                          <a:ea typeface="+mn-ea"/>
                          <a:cs typeface="+mn-cs"/>
                        </a:rPr>
                        <a:t>_______(Client)______ </a:t>
                      </a:r>
                      <a:r>
                        <a:rPr lang="en-US" sz="900" b="1" kern="1200">
                          <a:solidFill>
                            <a:schemeClr val="tx1"/>
                          </a:solidFill>
                          <a:effectLst/>
                          <a:latin typeface="Helvetica" pitchFamily="2" charset="0"/>
                          <a:ea typeface="+mn-ea"/>
                          <a:cs typeface="+mn-cs"/>
                        </a:rPr>
                        <a:t>hereinafter referred to as the “Company,” and Crew Marketing Partners ULC, hereinafter referred to as the “Consultant.”</a:t>
                      </a:r>
                    </a:p>
                    <a:p>
                      <a:pPr>
                        <a:lnSpc>
                          <a:spcPct val="100000"/>
                        </a:lnSpc>
                        <a:spcAft>
                          <a:spcPts val="800"/>
                        </a:spcAft>
                      </a:pPr>
                      <a:r>
                        <a:rPr lang="en-US" sz="900" b="0" kern="1200">
                          <a:solidFill>
                            <a:schemeClr val="tx1"/>
                          </a:solidFill>
                          <a:effectLst/>
                          <a:latin typeface="Helvetica" pitchFamily="2" charset="0"/>
                          <a:ea typeface="+mn-ea"/>
                          <a:cs typeface="+mn-cs"/>
                        </a:rPr>
                        <a:t>WHEREAS the Client (the “Company”) has agreed to retain the services of Crew Marketing Partners ULC (the “Consultant”) to provide the consulting services (the “Services”) described in this Consulting Agreement and the Consultant agrees to provide such Services to the Company, in accordance with the terms and conditions contained herein;</a:t>
                      </a:r>
                    </a:p>
                    <a:p>
                      <a:pPr>
                        <a:lnSpc>
                          <a:spcPct val="100000"/>
                        </a:lnSpc>
                        <a:spcAft>
                          <a:spcPts val="800"/>
                        </a:spcAft>
                      </a:pPr>
                      <a:r>
                        <a:rPr lang="en-US" sz="900" b="0" kern="1200">
                          <a:solidFill>
                            <a:schemeClr val="tx1"/>
                          </a:solidFill>
                          <a:effectLst/>
                          <a:latin typeface="Helvetica" pitchFamily="2" charset="0"/>
                          <a:ea typeface="+mn-ea"/>
                          <a:cs typeface="+mn-cs"/>
                        </a:rPr>
                        <a:t>THIS AGREEMENT WITNESSES THAT in consideration of the premises, and other good and valuable consideration, as set out in the Consulting Agreement, the parties agree as follows:</a:t>
                      </a:r>
                    </a:p>
                    <a:p>
                      <a:pPr>
                        <a:lnSpc>
                          <a:spcPct val="100000"/>
                        </a:lnSpc>
                        <a:spcAft>
                          <a:spcPts val="800"/>
                        </a:spcAft>
                      </a:pPr>
                      <a:r>
                        <a:rPr lang="en-US" sz="900" b="1" kern="1200">
                          <a:solidFill>
                            <a:schemeClr val="tx1"/>
                          </a:solidFill>
                          <a:effectLst/>
                          <a:latin typeface="Helvetica" pitchFamily="2" charset="0"/>
                          <a:ea typeface="+mn-ea"/>
                          <a:cs typeface="+mn-cs"/>
                        </a:rPr>
                        <a:t>1.1 No Partnership  </a:t>
                      </a:r>
                      <a:r>
                        <a:rPr lang="en-US" sz="900" b="0" kern="1200">
                          <a:solidFill>
                            <a:schemeClr val="tx1"/>
                          </a:solidFill>
                          <a:effectLst/>
                          <a:latin typeface="Helvetica" pitchFamily="2" charset="0"/>
                          <a:ea typeface="+mn-ea"/>
                          <a:cs typeface="+mn-cs"/>
                        </a:rPr>
                        <a:t>The Consultant is an independent contractor, this Agreement will not be construed as creating an employment, partnership, joint venture, or agency relationship between the parties or any other form of legal association, which would impose liability upon one party for any act or failure to act by the other party.</a:t>
                      </a:r>
                    </a:p>
                    <a:p>
                      <a:pPr>
                        <a:lnSpc>
                          <a:spcPct val="100000"/>
                        </a:lnSpc>
                        <a:spcAft>
                          <a:spcPts val="800"/>
                        </a:spcAft>
                      </a:pPr>
                      <a:r>
                        <a:rPr lang="en-US" sz="900" b="1" kern="1200">
                          <a:solidFill>
                            <a:schemeClr val="tx1"/>
                          </a:solidFill>
                          <a:effectLst/>
                          <a:latin typeface="Helvetica" pitchFamily="2" charset="0"/>
                          <a:ea typeface="+mn-ea"/>
                          <a:cs typeface="+mn-cs"/>
                        </a:rPr>
                        <a:t>2.1 Confidentiality  </a:t>
                      </a:r>
                      <a:r>
                        <a:rPr lang="en-US" sz="900" b="0" kern="1200">
                          <a:solidFill>
                            <a:schemeClr val="tx1"/>
                          </a:solidFill>
                          <a:effectLst/>
                          <a:latin typeface="Helvetica" pitchFamily="2" charset="0"/>
                          <a:ea typeface="+mn-ea"/>
                          <a:cs typeface="+mn-cs"/>
                        </a:rPr>
                        <a:t>The Consultant acknowledges that all information or data which may before or after the date of this Agreement be delivered by the Company or any affiliate of the Company to the Consultant or which may otherwise come within the knowledge of the Consultant (the “Confidential Information”) consists entirely of information and knowledge, which is the exclusive property of the Company or its subsidiaries and affiliates or persons from whom the Company has obtained its rights.</a:t>
                      </a:r>
                    </a:p>
                    <a:p>
                      <a:pPr>
                        <a:lnSpc>
                          <a:spcPct val="100000"/>
                        </a:lnSpc>
                        <a:spcAft>
                          <a:spcPts val="800"/>
                        </a:spcAft>
                      </a:pPr>
                      <a:r>
                        <a:rPr lang="en-US" sz="900" b="0" kern="1200">
                          <a:solidFill>
                            <a:schemeClr val="tx1"/>
                          </a:solidFill>
                          <a:effectLst/>
                          <a:latin typeface="Helvetica" pitchFamily="2" charset="0"/>
                          <a:ea typeface="+mn-ea"/>
                          <a:cs typeface="+mn-cs"/>
                        </a:rPr>
                        <a:t>The Consultant will treat the Confidential Information obtained by the Consultant in strict confidence and will not disclose the Confidential Information made available to the Consultant unless otherwise required by law, except as previously approved in writing by the Company. All documents containing Confidential Information are the property of the Company. Without limiting the generality of the foregoing, the Consultant hereby transfers to the Company the property rights in all documents, which now or hereafter may contain the Confidential Information.</a:t>
                      </a:r>
                    </a:p>
                    <a:p>
                      <a:pPr>
                        <a:lnSpc>
                          <a:spcPct val="100000"/>
                        </a:lnSpc>
                        <a:spcAft>
                          <a:spcPts val="800"/>
                        </a:spcAft>
                      </a:pPr>
                      <a:r>
                        <a:rPr lang="en-US" sz="900" b="1" kern="1200">
                          <a:solidFill>
                            <a:schemeClr val="tx1"/>
                          </a:solidFill>
                          <a:effectLst/>
                          <a:latin typeface="Helvetica" pitchFamily="2" charset="0"/>
                          <a:ea typeface="+mn-ea"/>
                          <a:cs typeface="+mn-cs"/>
                        </a:rPr>
                        <a:t>2.2 Exceptions to Confidentiality  </a:t>
                      </a:r>
                      <a:r>
                        <a:rPr lang="en-US" sz="900" b="0" kern="1200">
                          <a:solidFill>
                            <a:schemeClr val="tx1"/>
                          </a:solidFill>
                          <a:effectLst/>
                          <a:latin typeface="Helvetica" pitchFamily="2" charset="0"/>
                          <a:ea typeface="+mn-ea"/>
                          <a:cs typeface="+mn-cs"/>
                        </a:rPr>
                        <a:t>Any obligations specified in 2.1 above will not apply to the following: (a) any information which is presently in the public domain; (b) any information which subsequently becomes part of the public domain through no fault of the Consultant; or (c) any information which is required to be disclosed by a court of competent jurisdiction.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3.1 Ownership of Rights  </a:t>
                      </a:r>
                      <a:r>
                        <a:rPr lang="en-US" sz="900" b="0" kern="1200" dirty="0">
                          <a:solidFill>
                            <a:schemeClr val="tx1"/>
                          </a:solidFill>
                          <a:effectLst/>
                          <a:latin typeface="Helvetica" pitchFamily="2" charset="0"/>
                          <a:ea typeface="+mn-ea"/>
                          <a:cs typeface="+mn-cs"/>
                        </a:rPr>
                        <a:t>This Consulting Agreement sets out that as part of the Services, the Consultant will provide various brand or campaign themes, concepts, or design. The Consultant acknowledges and agrees as follows with respect to the ownership of rights by the Company and the limitation of the Consultant’s rights:</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Used Work Products  </a:t>
                      </a:r>
                      <a:r>
                        <a:rPr lang="en-US" sz="900" b="0" kern="1200" dirty="0">
                          <a:solidFill>
                            <a:schemeClr val="tx1"/>
                          </a:solidFill>
                          <a:effectLst/>
                          <a:latin typeface="Helvetica" pitchFamily="2" charset="0"/>
                          <a:ea typeface="+mn-ea"/>
                          <a:cs typeface="+mn-cs"/>
                        </a:rPr>
                        <a:t>With the exception of the original source files (the “Source Files”), the Consultant acquires no rights in any developments or work products derived from or otherwise related to the one concept or design chosen by the Company for use as their branding (the “Company’s Work Products”).</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Unused Work Products  </a:t>
                      </a:r>
                      <a:r>
                        <a:rPr lang="en-US" sz="900" b="0" kern="1200" dirty="0">
                          <a:solidFill>
                            <a:schemeClr val="tx1"/>
                          </a:solidFill>
                          <a:effectLst/>
                          <a:latin typeface="Helvetica" pitchFamily="2" charset="0"/>
                          <a:ea typeface="+mn-ea"/>
                          <a:cs typeface="+mn-cs"/>
                        </a:rPr>
                        <a:t>The Consultant acquires all rights in any developments or work products, including, but not limited to, documents, written materials, programs, designs, discs, and tapes resulting from, derived from or otherwise related to the two or more unused concept or design ideas not chosen by the Company (the “Unused Work Products”). The Unused Work Products does not include any Confidential Information of the Company.</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Source Files  </a:t>
                      </a:r>
                      <a:r>
                        <a:rPr lang="en-US" sz="900" b="0" kern="1200" dirty="0">
                          <a:solidFill>
                            <a:schemeClr val="tx1"/>
                          </a:solidFill>
                          <a:effectLst/>
                          <a:latin typeface="Helvetica" pitchFamily="2" charset="0"/>
                          <a:ea typeface="+mn-ea"/>
                          <a:cs typeface="+mn-cs"/>
                        </a:rPr>
                        <a:t>If Source Files are requested by The Company; an hourly rate will be charged to prepare and package the files. The amount of time needed to prepare the files will be dependent on the complexity of the files. Crew only keeps client files archived for 5 years passed completion. </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Intellectual Property  </a:t>
                      </a:r>
                      <a:r>
                        <a:rPr lang="en-US" sz="900" b="0" kern="1200" dirty="0">
                          <a:solidFill>
                            <a:schemeClr val="tx1"/>
                          </a:solidFill>
                          <a:effectLst/>
                          <a:latin typeface="Helvetica" pitchFamily="2" charset="0"/>
                          <a:ea typeface="+mn-ea"/>
                          <a:cs typeface="+mn-cs"/>
                        </a:rPr>
                        <a:t>The Consultant will not at any time apply for any copyright, trademark, patent, or other intellectual property protection which would affect the ownership by the Company of any rights in the intellectual property associated with the Confidential Information or the Company’s Work Products. The Consultant represents and warrants to the Company that the Company’s Work Products will not infringe on any copyright, trademark, or any other intellectual property rights of any third party.</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4.1 Estimated Results  </a:t>
                      </a:r>
                      <a:r>
                        <a:rPr lang="en-US" sz="900" b="0" kern="1200" dirty="0">
                          <a:solidFill>
                            <a:schemeClr val="tx1"/>
                          </a:solidFill>
                          <a:effectLst/>
                          <a:latin typeface="Helvetica" pitchFamily="2" charset="0"/>
                          <a:ea typeface="+mn-ea"/>
                          <a:cs typeface="+mn-cs"/>
                        </a:rPr>
                        <a:t>The Consultant makes no warranties either expressed or implied as to the Company achieving the estimated results and any return-on-investment calculations provided by the Consultant as they are estimated projections only.</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5.1 Term  </a:t>
                      </a:r>
                      <a:r>
                        <a:rPr lang="en-US" sz="900" b="0" kern="1200" dirty="0">
                          <a:solidFill>
                            <a:schemeClr val="tx1"/>
                          </a:solidFill>
                          <a:effectLst/>
                          <a:latin typeface="Helvetica" pitchFamily="2" charset="0"/>
                          <a:ea typeface="+mn-ea"/>
                          <a:cs typeface="+mn-cs"/>
                        </a:rPr>
                        <a:t>This Agreement will take effect on the Effective Date and will continue in full force and effect until the earlier of the completion of the Services or such time as this Agreement is terminated in writing by either party hereto. Sections 2.1, 2.2, 3.1, and 9.1 will survive a termination by either party.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47752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a:solidFill>
                  <a:srgbClr val="000005"/>
                </a:solidFill>
                <a:latin typeface="Helvetica" pitchFamily="2" charset="0"/>
              </a:rPr>
              <a:t>Crew Marketing Partners ULC Master Services Agreement</a:t>
            </a:r>
            <a:endParaRPr lang="en-US" sz="240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2BC6B392-06D5-4F32-8838-14305BF2D1BD}"/>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091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nvGraphicFramePr>
        <p:xfrm>
          <a:off x="748753" y="1155012"/>
          <a:ext cx="10652613" cy="505968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spcAft>
                          <a:spcPts val="800"/>
                        </a:spcAft>
                      </a:pPr>
                      <a:r>
                        <a:rPr lang="en-US" sz="900" b="1" kern="1200">
                          <a:solidFill>
                            <a:schemeClr val="tx1"/>
                          </a:solidFill>
                          <a:effectLst/>
                          <a:latin typeface="Helvetica" pitchFamily="2" charset="0"/>
                          <a:ea typeface="+mn-ea"/>
                          <a:cs typeface="+mn-cs"/>
                        </a:rPr>
                        <a:t>6.1 Arbitration  </a:t>
                      </a:r>
                      <a:r>
                        <a:rPr lang="en-US" sz="900" b="0" kern="1200">
                          <a:solidFill>
                            <a:schemeClr val="tx1"/>
                          </a:solidFill>
                          <a:effectLst/>
                          <a:latin typeface="Helvetica" pitchFamily="2" charset="0"/>
                          <a:ea typeface="+mn-ea"/>
                          <a:cs typeface="+mn-cs"/>
                        </a:rPr>
                        <a:t>All disputes arising out of or in connection with this contract, or in respect of any defined legal relationship associated therewith or derived therefrom, shall be referred to and finally resolved by arbitration under the Rules of the British Columbia International Commercial Arbitration Centre.</a:t>
                      </a:r>
                    </a:p>
                    <a:p>
                      <a:pPr>
                        <a:spcAft>
                          <a:spcPts val="800"/>
                        </a:spcAft>
                      </a:pPr>
                      <a:r>
                        <a:rPr lang="en-US" sz="900" b="1" kern="1200">
                          <a:solidFill>
                            <a:schemeClr val="tx1"/>
                          </a:solidFill>
                          <a:effectLst/>
                          <a:latin typeface="Helvetica" pitchFamily="2" charset="0"/>
                          <a:ea typeface="+mn-ea"/>
                          <a:cs typeface="+mn-cs"/>
                        </a:rPr>
                        <a:t>7.1 Enurement  </a:t>
                      </a:r>
                      <a:r>
                        <a:rPr lang="en-US" sz="900" b="0" kern="1200">
                          <a:solidFill>
                            <a:schemeClr val="tx1"/>
                          </a:solidFill>
                          <a:effectLst/>
                          <a:latin typeface="Helvetica" pitchFamily="2" charset="0"/>
                          <a:ea typeface="+mn-ea"/>
                          <a:cs typeface="+mn-cs"/>
                        </a:rPr>
                        <a:t>This Agreement shall enure to the benefit of and be binding on the parties and their respective heirs, executors, administrators, successors, and assigns.</a:t>
                      </a:r>
                    </a:p>
                    <a:p>
                      <a:pPr>
                        <a:spcAft>
                          <a:spcPts val="800"/>
                        </a:spcAft>
                      </a:pPr>
                      <a:r>
                        <a:rPr lang="en-US" sz="900" b="1" kern="1200">
                          <a:solidFill>
                            <a:schemeClr val="tx1"/>
                          </a:solidFill>
                          <a:effectLst/>
                          <a:latin typeface="Helvetica" pitchFamily="2" charset="0"/>
                          <a:ea typeface="+mn-ea"/>
                          <a:cs typeface="+mn-cs"/>
                        </a:rPr>
                        <a:t>8.1 Amendments  </a:t>
                      </a:r>
                      <a:r>
                        <a:rPr lang="en-US" sz="900" b="0" kern="1200">
                          <a:solidFill>
                            <a:schemeClr val="tx1"/>
                          </a:solidFill>
                          <a:effectLst/>
                          <a:latin typeface="Helvetica" pitchFamily="2" charset="0"/>
                          <a:ea typeface="+mn-ea"/>
                          <a:cs typeface="+mn-cs"/>
                        </a:rPr>
                        <a:t>No change or modification of this Agreement will be valid unless it is in writing and signed by each party to this Agreement.</a:t>
                      </a:r>
                    </a:p>
                    <a:p>
                      <a:pPr>
                        <a:spcAft>
                          <a:spcPts val="800"/>
                        </a:spcAft>
                      </a:pPr>
                      <a:r>
                        <a:rPr lang="en-US" sz="900" b="1" kern="1200">
                          <a:solidFill>
                            <a:schemeClr val="tx1"/>
                          </a:solidFill>
                          <a:effectLst/>
                          <a:latin typeface="Helvetica" pitchFamily="2" charset="0"/>
                          <a:ea typeface="+mn-ea"/>
                          <a:cs typeface="+mn-cs"/>
                        </a:rPr>
                        <a:t>9.1 Governing Law  </a:t>
                      </a:r>
                      <a:r>
                        <a:rPr lang="en-US" sz="900" b="0" kern="1200">
                          <a:solidFill>
                            <a:schemeClr val="tx1"/>
                          </a:solidFill>
                          <a:effectLst/>
                          <a:latin typeface="Helvetica" pitchFamily="2" charset="0"/>
                          <a:ea typeface="+mn-ea"/>
                          <a:cs typeface="+mn-cs"/>
                        </a:rPr>
                        <a:t>This Agreement will be governed by and construed in accordance with the laws of the Province of British Columbia and the laws of Canada applicable in such Province. </a:t>
                      </a:r>
                    </a:p>
                    <a:p>
                      <a:pPr>
                        <a:spcAft>
                          <a:spcPts val="800"/>
                        </a:spcAft>
                      </a:pPr>
                      <a:r>
                        <a:rPr lang="en-US" sz="900" b="1" kern="1200">
                          <a:solidFill>
                            <a:schemeClr val="tx1"/>
                          </a:solidFill>
                          <a:effectLst/>
                          <a:latin typeface="Helvetica" pitchFamily="2" charset="0"/>
                          <a:ea typeface="+mn-ea"/>
                          <a:cs typeface="+mn-cs"/>
                        </a:rPr>
                        <a:t>10.1 Case Studies  </a:t>
                      </a:r>
                      <a:r>
                        <a:rPr lang="en-US" sz="900" b="0" kern="1200">
                          <a:solidFill>
                            <a:schemeClr val="tx1"/>
                          </a:solidFill>
                          <a:effectLst/>
                          <a:latin typeface="Helvetica" pitchFamily="2" charset="0"/>
                          <a:ea typeface="+mn-ea"/>
                          <a:cs typeface="+mn-cs"/>
                        </a:rPr>
                        <a:t>The Consultant will use project results (images, brochures, websites, etc.) as case studies in future promotions with permission from the Company.</a:t>
                      </a:r>
                    </a:p>
                    <a:p>
                      <a:pPr>
                        <a:spcAft>
                          <a:spcPts val="200"/>
                        </a:spcAft>
                      </a:pPr>
                      <a:r>
                        <a:rPr lang="en-US" sz="900" b="1" kern="1200">
                          <a:solidFill>
                            <a:schemeClr val="tx1"/>
                          </a:solidFill>
                          <a:effectLst/>
                          <a:latin typeface="Helvetica" pitchFamily="2" charset="0"/>
                          <a:ea typeface="+mn-ea"/>
                          <a:cs typeface="+mn-cs"/>
                        </a:rPr>
                        <a:t>11.1 Limitation of Liability  </a:t>
                      </a:r>
                      <a:r>
                        <a:rPr lang="en-US" sz="900" b="0" kern="1200">
                          <a:solidFill>
                            <a:schemeClr val="tx1"/>
                          </a:solidFill>
                          <a:effectLst/>
                          <a:latin typeface="Helvetica" pitchFamily="2" charset="0"/>
                          <a:ea typeface="+mn-ea"/>
                          <a:cs typeface="+mn-cs"/>
                        </a:rPr>
                        <a:t>The Consultant is not responsible for:</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The failure of a contractor, retained independently by the Company, to perform work required in support of the project.</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The design of or defects in equipment supplied or provided by the Company for incorporation into the project.</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The design of or defects in data supplied or provided by the Company for incorporation into the project. </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Any project decisions made by the Client, including but not limited to, if the decisions were made without the advice of the Consultant or contrary to or inconsistent with the Consultant’s advice. </a:t>
                      </a:r>
                    </a:p>
                    <a:p>
                      <a:pPr marL="228600" indent="-228600">
                        <a:spcAft>
                          <a:spcPts val="800"/>
                        </a:spcAft>
                        <a:buFont typeface="+mj-lt"/>
                        <a:buAutoNum type="alphaLcParenR"/>
                      </a:pPr>
                      <a:r>
                        <a:rPr lang="en-US" sz="900" b="0" kern="1200">
                          <a:solidFill>
                            <a:schemeClr val="tx1"/>
                          </a:solidFill>
                          <a:effectLst/>
                          <a:latin typeface="Helvetica" pitchFamily="2" charset="0"/>
                          <a:ea typeface="+mn-ea"/>
                          <a:cs typeface="+mn-cs"/>
                        </a:rPr>
                        <a:t>Any consequential loss, injury, or damages suffered by the Company, including but not limited to loss of use, earnings, and business interruption.</a:t>
                      </a:r>
                    </a:p>
                    <a:p>
                      <a:pPr>
                        <a:spcAft>
                          <a:spcPts val="800"/>
                        </a:spcAft>
                      </a:pPr>
                      <a:r>
                        <a:rPr lang="en-US" sz="900" b="0" kern="1200">
                          <a:solidFill>
                            <a:schemeClr val="tx1"/>
                          </a:solidFill>
                          <a:effectLst/>
                          <a:latin typeface="Helvetica" pitchFamily="2" charset="0"/>
                          <a:ea typeface="+mn-ea"/>
                          <a:cs typeface="+mn-cs"/>
                        </a:rPr>
                        <a:t>The total amount of all claims the Company may have against the Consultant under the Agreement, including but not limited to claims for negligence, negligent misrepresentation, and breach of contract shall be strictly limited to the total amount of any professional fees charged by the Consultant for this project.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a:solidFill>
                            <a:schemeClr val="tx1"/>
                          </a:solidFill>
                          <a:effectLst/>
                          <a:latin typeface="Helvetica" pitchFamily="2" charset="0"/>
                          <a:ea typeface="+mn-ea"/>
                          <a:cs typeface="+mn-cs"/>
                        </a:rPr>
                        <a:t>11.2 Disclaimer   </a:t>
                      </a:r>
                      <a:r>
                        <a:rPr lang="en-US" sz="900" b="0" kern="1200">
                          <a:solidFill>
                            <a:schemeClr val="tx1"/>
                          </a:solidFill>
                          <a:effectLst/>
                          <a:latin typeface="Helvetica" pitchFamily="2" charset="0"/>
                          <a:ea typeface="+mn-ea"/>
                          <a:cs typeface="+mn-cs"/>
                        </a:rPr>
                        <a:t>Except as expressly set forth in this agreement, the Consultant does not make, and hereby expressly disclaims, any representations or warranties of any kind, either express or implied, with respect to the services or the client’s work product, including, but not limited to, warranties of merchantability, fitness for a particular purpose, and non-infringement.</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a:solidFill>
                            <a:schemeClr val="tx1"/>
                          </a:solidFill>
                          <a:effectLst/>
                          <a:latin typeface="Helvetica" pitchFamily="2" charset="0"/>
                          <a:ea typeface="+mn-ea"/>
                          <a:cs typeface="+mn-cs"/>
                        </a:rPr>
                        <a:t>11.3 Compliance Obligations  </a:t>
                      </a:r>
                      <a:r>
                        <a:rPr lang="en-US" sz="900" b="0" kern="1200">
                          <a:solidFill>
                            <a:schemeClr val="tx1"/>
                          </a:solidFill>
                          <a:effectLst/>
                          <a:latin typeface="Helvetica" pitchFamily="2" charset="0"/>
                          <a:ea typeface="+mn-ea"/>
                          <a:cs typeface="+mn-cs"/>
                        </a:rPr>
                        <a:t>Crew shall not be liable for any local, provincial, or federal accessibility compliance requirements or legislation (including, but not limited to AODA). This includes any future alterations, adjustments, or amendments performed by any party. Liability of third-party tools used for monitoring, assessing, or resolving compliance issues is the sole responsibility of the client or any third-party provider.</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0" kern="1200">
                          <a:solidFill>
                            <a:schemeClr val="tx1"/>
                          </a:solidFill>
                          <a:effectLst/>
                          <a:latin typeface="Helvetica" pitchFamily="2" charset="0"/>
                          <a:ea typeface="+mn-ea"/>
                          <a:cs typeface="+mn-cs"/>
                        </a:rPr>
                        <a:t>However, in the event that Crew has been engaged for the purpose of providing compliance services, Crew will only be responsible for its employees and agents engaged by Crew for the purpose of web accessibility compliance but shall not be liable for any non-compliance issues that may arise after the retainer (in the event of ongoing services), or work order (in the event of project-based services) is completed. This includes any alterations, adjustments, or amendments by third parties or the client, during or after the engagement, which has not been previously approved by Crew. Crew may, from time to time, suggest the use of third-party tools for monitoring, assessing, or AI tools and overlays that make real-time changes to the website; however, Crew makes no representations or warranties that the use of such third-party or AI tools will meet compliance requirements if used and it will be the responsibility of the client to review and approve the use of any third-party or AI tools.  Furthermore, Crew makes no representations that third-party, or AI tools used for compliance monitoring purposes will be 100% effective and, in fact, the third-party or AI tools used are specifically known to be unable to catch all compliance issues that may exist.</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a:solidFill>
                            <a:schemeClr val="tx1"/>
                          </a:solidFill>
                          <a:effectLst/>
                          <a:latin typeface="Helvetica" pitchFamily="2" charset="0"/>
                          <a:ea typeface="+mn-ea"/>
                          <a:cs typeface="+mn-cs"/>
                        </a:rPr>
                        <a:t>12.1 Indemnification  </a:t>
                      </a:r>
                      <a:r>
                        <a:rPr lang="en-US" sz="900" b="0" kern="1200">
                          <a:solidFill>
                            <a:schemeClr val="tx1"/>
                          </a:solidFill>
                          <a:effectLst/>
                          <a:latin typeface="Helvetica" pitchFamily="2" charset="0"/>
                          <a:ea typeface="+mn-ea"/>
                          <a:cs typeface="+mn-cs"/>
                        </a:rPr>
                        <a:t>The Company will defend, indemnify and hold harmless the Consultant and its affiliates, their officers, directors, employees and agents (collectively, the “Consultants Indemnified Parties”) against any and all losses, damages, liabilities, deficiencies, claims, actions, judgments, settlements, interest, awards, penalties, fines, costs or expenses of whatever kind including reasonable legal fees, disbursements and charges, fees and the costs of enforcing any right to indemnification under this Consulting Agreement and the cost of pursuing any insurance providers (collectively, “Losses”) incurred by any Consultant Indemnified Parties relating to, arising out or resulting from any third party claim alleging any injury or damage to person and/or property, suffered or sustained by any person or corporation, caused by the gross negligence of willful misconduct of the Company, its employees, agents or representatives or resulting from a material breach by the Company of its obligations under this agreement.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47752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a:solidFill>
                  <a:srgbClr val="000005"/>
                </a:solidFill>
                <a:latin typeface="Helvetica" pitchFamily="2" charset="0"/>
              </a:rPr>
              <a:t>Terms &amp; Conditions cont.</a:t>
            </a:r>
            <a:endParaRPr lang="en-US" sz="240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7F44FE13-5BC5-0002-EECB-036B6E835FE0}"/>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8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extLst>
              <p:ext uri="{D42A27DB-BD31-4B8C-83A1-F6EECF244321}">
                <p14:modId xmlns:p14="http://schemas.microsoft.com/office/powerpoint/2010/main" val="2682379852"/>
              </p:ext>
            </p:extLst>
          </p:nvPr>
        </p:nvGraphicFramePr>
        <p:xfrm>
          <a:off x="748753" y="1155012"/>
          <a:ext cx="10652613" cy="508508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spcAft>
                          <a:spcPts val="800"/>
                        </a:spcAft>
                      </a:pPr>
                      <a:r>
                        <a:rPr lang="en-US" sz="900" b="1" kern="1200">
                          <a:solidFill>
                            <a:schemeClr val="tx1"/>
                          </a:solidFill>
                          <a:effectLst/>
                          <a:latin typeface="Helvetica" pitchFamily="2" charset="0"/>
                          <a:ea typeface="+mn-ea"/>
                          <a:cs typeface="+mn-cs"/>
                        </a:rPr>
                        <a:t>13.1 Communication  </a:t>
                      </a:r>
                      <a:r>
                        <a:rPr lang="en-US" sz="900" b="0" kern="1200">
                          <a:solidFill>
                            <a:schemeClr val="tx1"/>
                          </a:solidFill>
                          <a:effectLst/>
                          <a:latin typeface="Helvetica" pitchFamily="2" charset="0"/>
                          <a:ea typeface="+mn-ea"/>
                          <a:cs typeface="+mn-cs"/>
                        </a:rPr>
                        <a:t>In the event that the Company fails to respond to any inquiry or milestone by the Consultant or any of the Consultant’s personnel within fifteen business days, the Consultant may suspend its provision of the Services under the Agreement (the “Suspension”) until such time as the Consultant receives what it considers, in its sole discretion, to be a sufficient response. The Consultant will endeavor to keep the Company informed regarding the status of any Suspension. If the Agreement remains in Suspension for more than 30 days, the Consultant will render an invoice to the Client for any partially performed Services completed up to the date of the Suspension, which amount will be immediately due and owing. In addition, following any Suspension for more than 30 days, a reactivation fee equivalent to 15% of the total Fees for the Agreement must be paid by the Client before the Suspension will be removed. The continued provision of the Services following any Suspension will be re-scheduled by the Consultant as the Consultant’s workload permits at that time and the Consultant reserves the right to re-quote the Fees payable for the remainder of the Agreement in accordance with its current rate at the time the Agreement is reactivated. Any Agreement that remains in Suspension for more than 90 days will automatically terminate unless otherwise agreed to in writing between the parties.</a:t>
                      </a:r>
                    </a:p>
                    <a:p>
                      <a:pPr>
                        <a:spcAft>
                          <a:spcPts val="800"/>
                        </a:spcAft>
                      </a:pPr>
                      <a:r>
                        <a:rPr lang="en-US" sz="900" b="1" kern="1200">
                          <a:solidFill>
                            <a:schemeClr val="tx1"/>
                          </a:solidFill>
                          <a:effectLst/>
                          <a:latin typeface="Helvetica" pitchFamily="2" charset="0"/>
                          <a:ea typeface="+mn-ea"/>
                          <a:cs typeface="+mn-cs"/>
                        </a:rPr>
                        <a:t>14.1 Delays  </a:t>
                      </a:r>
                      <a:r>
                        <a:rPr lang="en-US" sz="900" b="0" kern="1200">
                          <a:solidFill>
                            <a:schemeClr val="tx1"/>
                          </a:solidFill>
                          <a:effectLst/>
                          <a:latin typeface="Helvetica" pitchFamily="2" charset="0"/>
                          <a:ea typeface="+mn-ea"/>
                          <a:cs typeface="+mn-cs"/>
                        </a:rPr>
                        <a:t>The Consultant will not be liable for any delays in the Company’s Work Products delivery where such delay is caused by an event wholly outside of the Consultant’s control such as theft of key office equipment, vandalism, hardware, or software failures that prohibit the Consultant or its employees from operating, employee sickness, catastrophic weather or flood, or any Acts of God.</a:t>
                      </a:r>
                    </a:p>
                    <a:p>
                      <a:pPr>
                        <a:spcAft>
                          <a:spcPts val="200"/>
                        </a:spcAft>
                      </a:pPr>
                      <a:r>
                        <a:rPr lang="en-US" sz="900" b="1" kern="1200">
                          <a:solidFill>
                            <a:schemeClr val="tx1"/>
                          </a:solidFill>
                          <a:effectLst/>
                          <a:latin typeface="Helvetica" pitchFamily="2" charset="0"/>
                          <a:ea typeface="+mn-ea"/>
                          <a:cs typeface="+mn-cs"/>
                        </a:rPr>
                        <a:t>15.1 Payment  </a:t>
                      </a:r>
                      <a:r>
                        <a:rPr lang="en-US" sz="900" b="0" kern="1200">
                          <a:solidFill>
                            <a:schemeClr val="tx1"/>
                          </a:solidFill>
                          <a:effectLst/>
                          <a:latin typeface="Helvetica" pitchFamily="2" charset="0"/>
                          <a:ea typeface="+mn-ea"/>
                          <a:cs typeface="+mn-cs"/>
                        </a:rPr>
                        <a:t>All payments that become due and payable by the Company to the Consultant will be made in accordance with the following terms:</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Invoices become due and payable on the date of receipt of such invoice by the Company, unless a prior agreement has been made, in writing, as between the Company and the Consultant.</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If an invoice is due and payable for a period of more than 30 days, such invoice will accrue interest at a rate of 2% per month (24% per year), except to the extent limited by applicable law in any given circumstance, in which case the maximum interest rate allowable will be applied.</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All fees, expenses, and other charges invoiced are subject to GST, provincial sales tax, and HST, as applicable and such amounts are due and payable by the Company.</a:t>
                      </a:r>
                    </a:p>
                    <a:p>
                      <a:pPr marL="228600" indent="-228600">
                        <a:spcAft>
                          <a:spcPts val="200"/>
                        </a:spcAft>
                        <a:buFont typeface="+mj-lt"/>
                        <a:buAutoNum type="alphaLcParenR"/>
                      </a:pPr>
                      <a:r>
                        <a:rPr lang="en-US" sz="900" b="0" kern="1200">
                          <a:solidFill>
                            <a:schemeClr val="tx1"/>
                          </a:solidFill>
                          <a:effectLst/>
                          <a:latin typeface="Helvetica" pitchFamily="2" charset="0"/>
                          <a:ea typeface="+mn-ea"/>
                          <a:cs typeface="+mn-cs"/>
                        </a:rPr>
                        <a:t>All shipping and postage costs for materials are in addition to any invoices and will be billed to and paid by the Company separately.</a:t>
                      </a:r>
                    </a:p>
                    <a:p>
                      <a:pPr>
                        <a:spcAft>
                          <a:spcPts val="800"/>
                        </a:spcAft>
                      </a:pPr>
                      <a:endParaRPr lang="en-US" sz="900" b="0" kern="1200">
                        <a:solidFill>
                          <a:schemeClr val="tx1"/>
                        </a:solidFill>
                        <a:effectLst/>
                        <a:latin typeface="Helvetica" pitchFamily="2"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228600" indent="-228600">
                        <a:spcAft>
                          <a:spcPts val="200"/>
                        </a:spcAft>
                        <a:buFont typeface="+mj-lt"/>
                        <a:buAutoNum type="alphaLcParenR" startAt="5"/>
                      </a:pPr>
                      <a:r>
                        <a:rPr lang="en-US" sz="900" b="0" kern="1200" dirty="0">
                          <a:solidFill>
                            <a:schemeClr val="tx1"/>
                          </a:solidFill>
                          <a:effectLst/>
                          <a:latin typeface="Helvetica" pitchFamily="2" charset="0"/>
                          <a:ea typeface="+mn-ea"/>
                          <a:cs typeface="+mn-cs"/>
                        </a:rPr>
                        <a:t>The Consultant will obtain the prior approval of the Company prior to incurring out-of-pocket expenses such as sample purchases, stock photography, travel, and other expenses (the “Expenses”). If the Company has provided its approval to the Consultant, the Consultant will bill, and the Company will pay for the Expenses separately and in addition to any invoices. </a:t>
                      </a:r>
                    </a:p>
                    <a:p>
                      <a:pPr marL="228600" indent="-228600">
                        <a:spcAft>
                          <a:spcPts val="200"/>
                        </a:spcAft>
                        <a:buFont typeface="+mj-lt"/>
                        <a:buAutoNum type="alphaLcParenR" startAt="5"/>
                      </a:pPr>
                      <a:r>
                        <a:rPr lang="en-US" sz="900" b="0" kern="1200" dirty="0">
                          <a:solidFill>
                            <a:schemeClr val="tx1"/>
                          </a:solidFill>
                          <a:effectLst/>
                          <a:latin typeface="Helvetica" pitchFamily="2" charset="0"/>
                          <a:ea typeface="+mn-ea"/>
                          <a:cs typeface="+mn-cs"/>
                        </a:rPr>
                        <a:t>All recommended marketing projects which involve third party suppliers, such as media companies, printers, productions houses, and others, will be quoted and invoiced to the Company separate from standard invoices and are inclusive of costs related to the management and coordination of such third-party suppliers (the “Marketing Invoices”). The Company will pay the Marketing Invoices in addition to any other invoices, and the terms and conditions above regarding payment, interest, and applicable taxes laid out above will apply to the Marketing Invoices. </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startAt="5"/>
                        <a:tabLst/>
                        <a:defRPr/>
                      </a:pPr>
                      <a:r>
                        <a:rPr lang="en-US" sz="900" b="0" kern="1200">
                          <a:solidFill>
                            <a:schemeClr val="tx1"/>
                          </a:solidFill>
                          <a:effectLst/>
                          <a:latin typeface="Helvetica" pitchFamily="2" charset="0"/>
                          <a:ea typeface="+mn-ea"/>
                          <a:cs typeface="+mn-cs"/>
                        </a:rPr>
                        <a:t>For hard costs associated with influencer fees, production, and media, the Consultant shall require a non-refundable 75% deposit from the Company before commencing work.</a:t>
                      </a:r>
                    </a:p>
                    <a:p>
                      <a:pPr marL="228600" indent="-228600">
                        <a:spcAft>
                          <a:spcPts val="200"/>
                        </a:spcAft>
                        <a:buFont typeface="+mj-lt"/>
                        <a:buAutoNum type="alphaLcParenR" startAt="5"/>
                      </a:pPr>
                      <a:r>
                        <a:rPr lang="en-US" sz="900" b="0" kern="1200">
                          <a:solidFill>
                            <a:schemeClr val="tx1"/>
                          </a:solidFill>
                          <a:effectLst/>
                          <a:latin typeface="Helvetica" pitchFamily="2" charset="0"/>
                          <a:ea typeface="+mn-ea"/>
                          <a:cs typeface="+mn-cs"/>
                        </a:rPr>
                        <a:t>Where </a:t>
                      </a:r>
                      <a:r>
                        <a:rPr lang="en-US" sz="900" b="0" kern="1200" dirty="0">
                          <a:solidFill>
                            <a:schemeClr val="tx1"/>
                          </a:solidFill>
                          <a:effectLst/>
                          <a:latin typeface="Helvetica" pitchFamily="2" charset="0"/>
                          <a:ea typeface="+mn-ea"/>
                          <a:cs typeface="+mn-cs"/>
                        </a:rPr>
                        <a:t>either party terminates this Agreement in accordance with section 5.1, all remaining agency fees will become due and owing immediately upon such termination and shall be treated as if invoiced by the Consultant such that the terms related to payment, interest, and applicable taxes laid out above will apply. </a:t>
                      </a:r>
                    </a:p>
                    <a:p>
                      <a:pPr marL="228600" indent="-228600">
                        <a:spcAft>
                          <a:spcPts val="200"/>
                        </a:spcAft>
                        <a:buFont typeface="+mj-lt"/>
                        <a:buAutoNum type="alphaLcParenR" startAt="5"/>
                      </a:pPr>
                      <a:r>
                        <a:rPr lang="en-US" sz="900" b="0" kern="1200" dirty="0">
                          <a:solidFill>
                            <a:schemeClr val="tx1"/>
                          </a:solidFill>
                          <a:effectLst/>
                          <a:latin typeface="Helvetica" pitchFamily="2" charset="0"/>
                          <a:ea typeface="+mn-ea"/>
                          <a:cs typeface="+mn-cs"/>
                        </a:rPr>
                        <a:t>The Company hereby agrees to pay for all authorized work in excess of any approved individual project work up to 10% due to overage or out of scope activity.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47752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a:solidFill>
                  <a:srgbClr val="000005"/>
                </a:solidFill>
                <a:latin typeface="Helvetica" pitchFamily="2" charset="0"/>
              </a:rPr>
              <a:t>Terms &amp; Conditions cont.</a:t>
            </a:r>
            <a:endParaRPr lang="en-US" sz="240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177CDDA7-3AB7-43F5-0137-95FF9DEA174B}"/>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242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3" y="1268136"/>
            <a:ext cx="5206569" cy="4342664"/>
          </a:xfrm>
          <a:prstGeom prst="rect">
            <a:avLst/>
          </a:prstGeom>
        </p:spPr>
        <p:txBody>
          <a:bodyPr wrap="square">
            <a:spAutoFit/>
          </a:bodyPr>
          <a:lstStyle/>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IN WITNESS WHEREOF the parties have executed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this Agreement this _______</a:t>
            </a:r>
            <a:r>
              <a:rPr lang="en-US" sz="1200" b="1" dirty="0">
                <a:solidFill>
                  <a:srgbClr val="010101"/>
                </a:solidFill>
                <a:latin typeface="Helvetica" pitchFamily="2" charset="0"/>
                <a:ea typeface="Helvetica Neue" panose="02000503000000020004" pitchFamily="2" charset="0"/>
                <a:cs typeface="Helvetica Neue" panose="02000503000000020004" pitchFamily="2" charset="0"/>
              </a:rPr>
              <a:t> </a:t>
            </a: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day of _______, 2026.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Crew Marketing Partners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Braden Douglas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FF0000"/>
                </a:solidFill>
                <a:latin typeface="Helvetica" pitchFamily="2" charset="0"/>
                <a:ea typeface="Helvetica Neue" panose="02000503000000020004" pitchFamily="2" charset="0"/>
                <a:cs typeface="Helvetica Neue" panose="02000503000000020004" pitchFamily="2" charset="0"/>
              </a:rPr>
              <a:t>Client Name</a:t>
            </a:r>
            <a:endParaRPr lang="en-US" sz="1200" dirty="0">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Print Name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7"/>
            <a:ext cx="5487923" cy="605052"/>
          </a:xfrm>
          <a:prstGeom prst="rect">
            <a:avLst/>
          </a:prstGeom>
          <a:noFill/>
        </p:spPr>
        <p:txBody>
          <a:bodyPr wrap="none" rtlCol="0">
            <a:noAutofit/>
          </a:bodyPr>
          <a:lstStyle/>
          <a:p>
            <a:pPr algn="r" defTabSz="915988">
              <a:lnSpc>
                <a:spcPct val="80000"/>
              </a:lnSpc>
            </a:pPr>
            <a:r>
              <a:rPr lang="en-US" sz="2400" dirty="0">
                <a:solidFill>
                  <a:srgbClr val="FF0000"/>
                </a:solidFill>
                <a:latin typeface="Helvetica Light" panose="020B0403020202020204" pitchFamily="34" charset="0"/>
                <a:ea typeface="Helvetica Neue" panose="02000503000000020004" pitchFamily="2" charset="0"/>
                <a:cs typeface="Helvetica Neue" panose="02000503000000020004" pitchFamily="2" charset="0"/>
              </a:rPr>
              <a:t>Client Name</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035154"/>
            <a:ext cx="3669842" cy="423899"/>
          </a:xfrm>
          <a:prstGeom prst="rect">
            <a:avLst/>
          </a:prstGeom>
        </p:spPr>
        <p:txBody>
          <a:bodyPr wrap="square">
            <a:spAutoFit/>
          </a:bodyPr>
          <a:lstStyle/>
          <a:p>
            <a:pPr algn="r" defTabSz="915988">
              <a:lnSpc>
                <a:spcPct val="110000"/>
              </a:lnSpc>
            </a:pP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MASTER SERVICES AGREEMENT</a:t>
            </a:r>
          </a:p>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	MARCH</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 2026</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1246933" y="330011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BC36C2-18AE-A548-B902-A76739997EC0}"/>
              </a:ext>
            </a:extLst>
          </p:cNvPr>
          <p:cNvCxnSpPr>
            <a:cxnSpLocks/>
          </p:cNvCxnSpPr>
          <p:nvPr/>
        </p:nvCxnSpPr>
        <p:spPr>
          <a:xfrm>
            <a:off x="1246933" y="509374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71155-2446-B842-A8E8-14181ACC9D30}"/>
              </a:ext>
            </a:extLst>
          </p:cNvPr>
          <p:cNvCxnSpPr>
            <a:cxnSpLocks/>
          </p:cNvCxnSpPr>
          <p:nvPr/>
        </p:nvCxnSpPr>
        <p:spPr>
          <a:xfrm>
            <a:off x="1746738" y="5492326"/>
            <a:ext cx="3153508"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7946A138-6C11-9D49-8FE9-C884B6AB75EE}"/>
              </a:ext>
            </a:extLst>
          </p:cNvPr>
          <p:cNvPicPr>
            <a:picLocks noChangeAspect="1"/>
          </p:cNvPicPr>
          <p:nvPr/>
        </p:nvPicPr>
        <p:blipFill>
          <a:blip r:embed="rId2"/>
          <a:stretch>
            <a:fillRect/>
          </a:stretch>
        </p:blipFill>
        <p:spPr>
          <a:xfrm>
            <a:off x="1531815" y="2811503"/>
            <a:ext cx="1627502" cy="626588"/>
          </a:xfrm>
          <a:prstGeom prst="rect">
            <a:avLst/>
          </a:prstGeom>
        </p:spPr>
      </p:pic>
      <p:sp>
        <p:nvSpPr>
          <p:cNvPr id="2" name="Rectangle 1">
            <a:extLst>
              <a:ext uri="{FF2B5EF4-FFF2-40B4-BE49-F238E27FC236}">
                <a16:creationId xmlns:a16="http://schemas.microsoft.com/office/drawing/2014/main" id="{77FB5716-1853-5508-D37F-E3BBEE3D62CD}"/>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0522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d113989-57d3-47be-be45-651814c143b6" xsi:nil="true"/>
    <lcf76f155ced4ddcb4097134ff3c332f xmlns="c98ada3d-1571-4de2-814b-f5abcf3b98af">
      <Terms xmlns="http://schemas.microsoft.com/office/infopath/2007/PartnerControls"/>
    </lcf76f155ced4ddcb4097134ff3c332f>
    <SharedWithUsers xmlns="4d113989-57d3-47be-be45-651814c143b6">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FB058487461D34AADD5062128A7FE74" ma:contentTypeVersion="16" ma:contentTypeDescription="Create a new document." ma:contentTypeScope="" ma:versionID="d4987e95d8e07d4f23055e777e2b45fd">
  <xsd:schema xmlns:xsd="http://www.w3.org/2001/XMLSchema" xmlns:xs="http://www.w3.org/2001/XMLSchema" xmlns:p="http://schemas.microsoft.com/office/2006/metadata/properties" xmlns:ns2="c98ada3d-1571-4de2-814b-f5abcf3b98af" xmlns:ns3="4d113989-57d3-47be-be45-651814c143b6" targetNamespace="http://schemas.microsoft.com/office/2006/metadata/properties" ma:root="true" ma:fieldsID="f40698c7628b148f93a5e1cf4ee45c26" ns2:_="" ns3:_="">
    <xsd:import namespace="c98ada3d-1571-4de2-814b-f5abcf3b98af"/>
    <xsd:import namespace="4d113989-57d3-47be-be45-651814c143b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8ada3d-1571-4de2-814b-f5abcf3b98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2fb9e87-2751-411a-8d34-668b481b426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d113989-57d3-47be-be45-651814c143b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a3ed35-e176-4a15-9375-ff04c45c2483}" ma:internalName="TaxCatchAll" ma:showField="CatchAllData" ma:web="4d113989-57d3-47be-be45-651814c143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2AB2F0-421E-4519-A1A7-0E79D64318E1}">
  <ds:schemaRefs>
    <ds:schemaRef ds:uri="4d113989-57d3-47be-be45-651814c143b6"/>
    <ds:schemaRef ds:uri="c98ada3d-1571-4de2-814b-f5abcf3b98a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0750A6A-A185-4C03-B02B-448E55271FC8}">
  <ds:schemaRefs>
    <ds:schemaRef ds:uri="http://schemas.microsoft.com/sharepoint/v3/contenttype/forms"/>
  </ds:schemaRefs>
</ds:datastoreItem>
</file>

<file path=customXml/itemProps3.xml><?xml version="1.0" encoding="utf-8"?>
<ds:datastoreItem xmlns:ds="http://schemas.openxmlformats.org/officeDocument/2006/customXml" ds:itemID="{59C93655-7F9C-45A0-A30F-D5936144E0BC}">
  <ds:schemaRefs>
    <ds:schemaRef ds:uri="4d113989-57d3-47be-be45-651814c143b6"/>
    <ds:schemaRef ds:uri="c98ada3d-1571-4de2-814b-f5abcf3b98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TotalTime>
  <Words>3117</Words>
  <Application>Microsoft Office PowerPoint</Application>
  <PresentationFormat>Widescreen</PresentationFormat>
  <Paragraphs>150</Paragraphs>
  <Slides>10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Helvetica</vt:lpstr>
      <vt:lpstr>Helvetica Light</vt:lpstr>
      <vt:lpstr>Helvetica LT Pro</vt:lpstr>
      <vt:lpstr>Helvetica Neue</vt:lpstr>
      <vt:lpstr>Univers LT Pro 45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 Fingarson</dc:creator>
  <cp:lastModifiedBy>Sujina Unger</cp:lastModifiedBy>
  <cp:revision>2</cp:revision>
  <dcterms:created xsi:type="dcterms:W3CDTF">2020-10-09T23:20:05Z</dcterms:created>
  <dcterms:modified xsi:type="dcterms:W3CDTF">2026-06-17T15:47:03Z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0x010100AFB058487461D34AADD5062128A7FE74</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lpwstr/>
  </property>
  <property fmtid="{D5CDD505-2E9C-101B-9397-08002B2CF9AE}" pid="9" name="MediaServiceImageTags">
    <vt:lpwstr/>
  </property>
</Properties>
</file>